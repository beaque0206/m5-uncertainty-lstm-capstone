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9" r:id="rId4"/>
    <p:sldId id="270" r:id="rId5"/>
    <p:sldId id="269" r:id="rId6"/>
    <p:sldId id="258" r:id="rId7"/>
    <p:sldId id="280" r:id="rId8"/>
    <p:sldId id="259" r:id="rId9"/>
    <p:sldId id="260" r:id="rId10"/>
    <p:sldId id="291" r:id="rId11"/>
    <p:sldId id="266" r:id="rId12"/>
    <p:sldId id="267" r:id="rId13"/>
    <p:sldId id="268" r:id="rId14"/>
    <p:sldId id="294" r:id="rId15"/>
    <p:sldId id="272" r:id="rId16"/>
    <p:sldId id="273" r:id="rId17"/>
    <p:sldId id="274" r:id="rId18"/>
    <p:sldId id="275" r:id="rId19"/>
    <p:sldId id="276" r:id="rId20"/>
    <p:sldId id="278" r:id="rId21"/>
    <p:sldId id="281" r:id="rId22"/>
    <p:sldId id="288" r:id="rId23"/>
    <p:sldId id="285" r:id="rId24"/>
    <p:sldId id="292" r:id="rId25"/>
    <p:sldId id="286" r:id="rId26"/>
    <p:sldId id="287" r:id="rId27"/>
    <p:sldId id="284" r:id="rId28"/>
    <p:sldId id="282" r:id="rId29"/>
    <p:sldId id="290" r:id="rId30"/>
    <p:sldId id="283" r:id="rId31"/>
    <p:sldId id="263" r:id="rId32"/>
  </p:sldIdLst>
  <p:sldSz cx="9144000" cy="5143500" type="screen16x9"/>
  <p:notesSz cx="6858000" cy="9144000"/>
  <p:embeddedFontLst>
    <p:embeddedFont>
      <p:font typeface="Roboto" panose="020B0604020202020204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E5y2wGM+SaEr7y7VijkzvNCGY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AF419D-87A1-492B-982B-8FB4123AD956}">
  <a:tblStyle styleId="{0FAF419D-87A1-492B-982B-8FB4123AD9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4450" autoAdjust="0"/>
  </p:normalViewPr>
  <p:slideViewPr>
    <p:cSldViewPr snapToGrid="0">
      <p:cViewPr varScale="1">
        <p:scale>
          <a:sx n="126" d="100"/>
          <a:sy n="126" d="100"/>
        </p:scale>
        <p:origin x="1200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F03B96-578A-4E9A-9F41-67ABFAF44EE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PH"/>
        </a:p>
      </dgm:t>
    </dgm:pt>
    <dgm:pt modelId="{41C2A80A-FA39-453C-BD3C-74CB954DA4CE}">
      <dgm:prSet phldrT="[Text]"/>
      <dgm:spPr/>
      <dgm:t>
        <a:bodyPr/>
        <a:lstStyle/>
        <a:p>
          <a:r>
            <a:rPr lang="en-PH" dirty="0"/>
            <a:t>Trend Analysis</a:t>
          </a:r>
        </a:p>
      </dgm:t>
    </dgm:pt>
    <dgm:pt modelId="{2AFEE477-82E9-44CD-A88B-D3C8455128C8}" type="parTrans" cxnId="{F07B310A-D1BF-49E8-96AA-FB20B14779BA}">
      <dgm:prSet/>
      <dgm:spPr/>
      <dgm:t>
        <a:bodyPr/>
        <a:lstStyle/>
        <a:p>
          <a:endParaRPr lang="en-PH"/>
        </a:p>
      </dgm:t>
    </dgm:pt>
    <dgm:pt modelId="{2A599D95-E302-4EFF-8308-D53A647DD06F}" type="sibTrans" cxnId="{F07B310A-D1BF-49E8-96AA-FB20B14779BA}">
      <dgm:prSet/>
      <dgm:spPr/>
      <dgm:t>
        <a:bodyPr/>
        <a:lstStyle/>
        <a:p>
          <a:endParaRPr lang="en-PH"/>
        </a:p>
      </dgm:t>
    </dgm:pt>
    <dgm:pt modelId="{6EC2E5E9-163C-41D7-AA75-D31C7BFA36D9}">
      <dgm:prSet phldrT="[Text]"/>
      <dgm:spPr/>
      <dgm:t>
        <a:bodyPr/>
        <a:lstStyle/>
        <a:p>
          <a:r>
            <a:rPr lang="en-PH" dirty="0"/>
            <a:t>RF Feature Importance</a:t>
          </a:r>
        </a:p>
      </dgm:t>
    </dgm:pt>
    <dgm:pt modelId="{709B8D73-24EE-498D-863E-DD223F7B9767}" type="parTrans" cxnId="{5C58C278-D857-42FB-9362-54FB51F3627C}">
      <dgm:prSet/>
      <dgm:spPr/>
      <dgm:t>
        <a:bodyPr/>
        <a:lstStyle/>
        <a:p>
          <a:endParaRPr lang="en-PH"/>
        </a:p>
      </dgm:t>
    </dgm:pt>
    <dgm:pt modelId="{648479EB-9917-4ED3-AFCE-726730014791}" type="sibTrans" cxnId="{5C58C278-D857-42FB-9362-54FB51F3627C}">
      <dgm:prSet/>
      <dgm:spPr/>
      <dgm:t>
        <a:bodyPr/>
        <a:lstStyle/>
        <a:p>
          <a:endParaRPr lang="en-PH"/>
        </a:p>
      </dgm:t>
    </dgm:pt>
    <dgm:pt modelId="{183F0842-95BA-47F4-9697-221D239DE0FD}">
      <dgm:prSet phldrT="[Text]"/>
      <dgm:spPr/>
      <dgm:t>
        <a:bodyPr/>
        <a:lstStyle/>
        <a:p>
          <a:r>
            <a:rPr lang="en-PH" dirty="0"/>
            <a:t>Model Validation</a:t>
          </a:r>
        </a:p>
      </dgm:t>
    </dgm:pt>
    <dgm:pt modelId="{70C0827A-E788-4C23-A98B-C491F039C08E}" type="parTrans" cxnId="{990793F7-2723-4711-8BCD-58E0F0BF24AA}">
      <dgm:prSet/>
      <dgm:spPr/>
      <dgm:t>
        <a:bodyPr/>
        <a:lstStyle/>
        <a:p>
          <a:endParaRPr lang="en-PH"/>
        </a:p>
      </dgm:t>
    </dgm:pt>
    <dgm:pt modelId="{138250CF-C34F-488E-9CBE-FB784B1963EC}" type="sibTrans" cxnId="{990793F7-2723-4711-8BCD-58E0F0BF24AA}">
      <dgm:prSet/>
      <dgm:spPr/>
      <dgm:t>
        <a:bodyPr/>
        <a:lstStyle/>
        <a:p>
          <a:endParaRPr lang="en-PH"/>
        </a:p>
      </dgm:t>
    </dgm:pt>
    <dgm:pt modelId="{CBBF40A6-AD78-4AFC-9955-0D9EAADF6D8F}" type="pres">
      <dgm:prSet presAssocID="{2AF03B96-578A-4E9A-9F41-67ABFAF44EEF}" presName="diagram" presStyleCnt="0">
        <dgm:presLayoutVars>
          <dgm:dir/>
          <dgm:resizeHandles val="exact"/>
        </dgm:presLayoutVars>
      </dgm:prSet>
      <dgm:spPr/>
    </dgm:pt>
    <dgm:pt modelId="{E9A08B0A-B170-4D39-91C5-563349800252}" type="pres">
      <dgm:prSet presAssocID="{41C2A80A-FA39-453C-BD3C-74CB954DA4CE}" presName="node" presStyleLbl="node1" presStyleIdx="0" presStyleCnt="3">
        <dgm:presLayoutVars>
          <dgm:bulletEnabled val="1"/>
        </dgm:presLayoutVars>
      </dgm:prSet>
      <dgm:spPr/>
    </dgm:pt>
    <dgm:pt modelId="{B6743FC2-3ECE-4BA5-B265-2C21DC873099}" type="pres">
      <dgm:prSet presAssocID="{2A599D95-E302-4EFF-8308-D53A647DD06F}" presName="sibTrans" presStyleCnt="0"/>
      <dgm:spPr/>
    </dgm:pt>
    <dgm:pt modelId="{C85067E0-48AF-48C3-BACD-69EFF01810CA}" type="pres">
      <dgm:prSet presAssocID="{6EC2E5E9-163C-41D7-AA75-D31C7BFA36D9}" presName="node" presStyleLbl="node1" presStyleIdx="1" presStyleCnt="3">
        <dgm:presLayoutVars>
          <dgm:bulletEnabled val="1"/>
        </dgm:presLayoutVars>
      </dgm:prSet>
      <dgm:spPr/>
    </dgm:pt>
    <dgm:pt modelId="{029B91CE-D728-41EE-8A8A-5B5D796795AF}" type="pres">
      <dgm:prSet presAssocID="{648479EB-9917-4ED3-AFCE-726730014791}" presName="sibTrans" presStyleCnt="0"/>
      <dgm:spPr/>
    </dgm:pt>
    <dgm:pt modelId="{6F8473E7-F502-46F6-BC38-4289D6849A98}" type="pres">
      <dgm:prSet presAssocID="{183F0842-95BA-47F4-9697-221D239DE0FD}" presName="node" presStyleLbl="node1" presStyleIdx="2" presStyleCnt="3">
        <dgm:presLayoutVars>
          <dgm:bulletEnabled val="1"/>
        </dgm:presLayoutVars>
      </dgm:prSet>
      <dgm:spPr/>
    </dgm:pt>
  </dgm:ptLst>
  <dgm:cxnLst>
    <dgm:cxn modelId="{F07B310A-D1BF-49E8-96AA-FB20B14779BA}" srcId="{2AF03B96-578A-4E9A-9F41-67ABFAF44EEF}" destId="{41C2A80A-FA39-453C-BD3C-74CB954DA4CE}" srcOrd="0" destOrd="0" parTransId="{2AFEE477-82E9-44CD-A88B-D3C8455128C8}" sibTransId="{2A599D95-E302-4EFF-8308-D53A647DD06F}"/>
    <dgm:cxn modelId="{54C6A81E-3E93-43BB-B9AE-B09611086857}" type="presOf" srcId="{6EC2E5E9-163C-41D7-AA75-D31C7BFA36D9}" destId="{C85067E0-48AF-48C3-BACD-69EFF01810CA}" srcOrd="0" destOrd="0" presId="urn:microsoft.com/office/officeart/2005/8/layout/default"/>
    <dgm:cxn modelId="{5C58C278-D857-42FB-9362-54FB51F3627C}" srcId="{2AF03B96-578A-4E9A-9F41-67ABFAF44EEF}" destId="{6EC2E5E9-163C-41D7-AA75-D31C7BFA36D9}" srcOrd="1" destOrd="0" parTransId="{709B8D73-24EE-498D-863E-DD223F7B9767}" sibTransId="{648479EB-9917-4ED3-AFCE-726730014791}"/>
    <dgm:cxn modelId="{50A0457C-CA22-4181-AD89-28C64BE5D9C9}" type="presOf" srcId="{183F0842-95BA-47F4-9697-221D239DE0FD}" destId="{6F8473E7-F502-46F6-BC38-4289D6849A98}" srcOrd="0" destOrd="0" presId="urn:microsoft.com/office/officeart/2005/8/layout/default"/>
    <dgm:cxn modelId="{FCE29492-6188-4270-BF45-5170C55AFDB1}" type="presOf" srcId="{2AF03B96-578A-4E9A-9F41-67ABFAF44EEF}" destId="{CBBF40A6-AD78-4AFC-9955-0D9EAADF6D8F}" srcOrd="0" destOrd="0" presId="urn:microsoft.com/office/officeart/2005/8/layout/default"/>
    <dgm:cxn modelId="{44E033E7-C409-45B4-B475-096F32681EEE}" type="presOf" srcId="{41C2A80A-FA39-453C-BD3C-74CB954DA4CE}" destId="{E9A08B0A-B170-4D39-91C5-563349800252}" srcOrd="0" destOrd="0" presId="urn:microsoft.com/office/officeart/2005/8/layout/default"/>
    <dgm:cxn modelId="{990793F7-2723-4711-8BCD-58E0F0BF24AA}" srcId="{2AF03B96-578A-4E9A-9F41-67ABFAF44EEF}" destId="{183F0842-95BA-47F4-9697-221D239DE0FD}" srcOrd="2" destOrd="0" parTransId="{70C0827A-E788-4C23-A98B-C491F039C08E}" sibTransId="{138250CF-C34F-488E-9CBE-FB784B1963EC}"/>
    <dgm:cxn modelId="{0C7145A2-4EA1-403D-A089-BFA43C2871F4}" type="presParOf" srcId="{CBBF40A6-AD78-4AFC-9955-0D9EAADF6D8F}" destId="{E9A08B0A-B170-4D39-91C5-563349800252}" srcOrd="0" destOrd="0" presId="urn:microsoft.com/office/officeart/2005/8/layout/default"/>
    <dgm:cxn modelId="{1C96EDC1-D0D5-4EE0-B453-FF286171181C}" type="presParOf" srcId="{CBBF40A6-AD78-4AFC-9955-0D9EAADF6D8F}" destId="{B6743FC2-3ECE-4BA5-B265-2C21DC873099}" srcOrd="1" destOrd="0" presId="urn:microsoft.com/office/officeart/2005/8/layout/default"/>
    <dgm:cxn modelId="{153DC5FB-A03C-4C21-A901-BB7B920CA04D}" type="presParOf" srcId="{CBBF40A6-AD78-4AFC-9955-0D9EAADF6D8F}" destId="{C85067E0-48AF-48C3-BACD-69EFF01810CA}" srcOrd="2" destOrd="0" presId="urn:microsoft.com/office/officeart/2005/8/layout/default"/>
    <dgm:cxn modelId="{61B4041E-9C2C-4620-AC05-AC51EB69FFFD}" type="presParOf" srcId="{CBBF40A6-AD78-4AFC-9955-0D9EAADF6D8F}" destId="{029B91CE-D728-41EE-8A8A-5B5D796795AF}" srcOrd="3" destOrd="0" presId="urn:microsoft.com/office/officeart/2005/8/layout/default"/>
    <dgm:cxn modelId="{04B6D0C6-F805-453F-8936-A11250450801}" type="presParOf" srcId="{CBBF40A6-AD78-4AFC-9955-0D9EAADF6D8F}" destId="{6F8473E7-F502-46F6-BC38-4289D6849A9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08B0A-B170-4D39-91C5-563349800252}">
      <dsp:nvSpPr>
        <dsp:cNvPr id="0" name=""/>
        <dsp:cNvSpPr/>
      </dsp:nvSpPr>
      <dsp:spPr>
        <a:xfrm>
          <a:off x="205760" y="323"/>
          <a:ext cx="1769415" cy="10616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400" kern="1200" dirty="0"/>
            <a:t>Trend Analysis</a:t>
          </a:r>
        </a:p>
      </dsp:txBody>
      <dsp:txXfrm>
        <a:off x="205760" y="323"/>
        <a:ext cx="1769415" cy="1061649"/>
      </dsp:txXfrm>
    </dsp:sp>
    <dsp:sp modelId="{C85067E0-48AF-48C3-BACD-69EFF01810CA}">
      <dsp:nvSpPr>
        <dsp:cNvPr id="0" name=""/>
        <dsp:cNvSpPr/>
      </dsp:nvSpPr>
      <dsp:spPr>
        <a:xfrm>
          <a:off x="2152116" y="323"/>
          <a:ext cx="1769415" cy="1061649"/>
        </a:xfrm>
        <a:prstGeom prst="rect">
          <a:avLst/>
        </a:prstGeom>
        <a:solidFill>
          <a:schemeClr val="accent2">
            <a:hueOff val="-4774699"/>
            <a:satOff val="10331"/>
            <a:lumOff val="-6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400" kern="1200" dirty="0"/>
            <a:t>RF Feature Importance</a:t>
          </a:r>
        </a:p>
      </dsp:txBody>
      <dsp:txXfrm>
        <a:off x="2152116" y="323"/>
        <a:ext cx="1769415" cy="1061649"/>
      </dsp:txXfrm>
    </dsp:sp>
    <dsp:sp modelId="{6F8473E7-F502-46F6-BC38-4289D6849A98}">
      <dsp:nvSpPr>
        <dsp:cNvPr id="0" name=""/>
        <dsp:cNvSpPr/>
      </dsp:nvSpPr>
      <dsp:spPr>
        <a:xfrm>
          <a:off x="1178938" y="1238913"/>
          <a:ext cx="1769415" cy="1061649"/>
        </a:xfrm>
        <a:prstGeom prst="rect">
          <a:avLst/>
        </a:prstGeom>
        <a:solidFill>
          <a:schemeClr val="accent2">
            <a:hueOff val="-9549399"/>
            <a:satOff val="20661"/>
            <a:lumOff val="-135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400" kern="1200" dirty="0"/>
            <a:t>Model Validation</a:t>
          </a:r>
        </a:p>
      </dsp:txBody>
      <dsp:txXfrm>
        <a:off x="1178938" y="1238913"/>
        <a:ext cx="1769415" cy="1061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92" name="Google Shape;3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 dirty="0"/>
              <a:t>Other information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 dirty="0"/>
              <a:t>- </a:t>
            </a:r>
            <a:endParaRPr dirty="0"/>
          </a:p>
        </p:txBody>
      </p:sp>
      <p:sp>
        <p:nvSpPr>
          <p:cNvPr id="401" name="Google Shape;4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Other information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- </a:t>
            </a:r>
            <a:endParaRPr/>
          </a:p>
        </p:txBody>
      </p:sp>
      <p:sp>
        <p:nvSpPr>
          <p:cNvPr id="401" name="Google Shape;4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646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Other information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- </a:t>
            </a:r>
            <a:endParaRPr/>
          </a:p>
        </p:txBody>
      </p:sp>
      <p:sp>
        <p:nvSpPr>
          <p:cNvPr id="401" name="Google Shape;4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737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Other information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- </a:t>
            </a:r>
            <a:endParaRPr/>
          </a:p>
        </p:txBody>
      </p:sp>
      <p:sp>
        <p:nvSpPr>
          <p:cNvPr id="401" name="Google Shape;4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3221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Source: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/>
              <a:t>https://medium.com/atoti/using-atoti-to-leverage-probabilistic-time-series-forecasts-from-a-deep-learning-model-af293493be78</a:t>
            </a:r>
            <a:endParaRPr/>
          </a:p>
        </p:txBody>
      </p:sp>
      <p:sp>
        <p:nvSpPr>
          <p:cNvPr id="434" name="Google Shape;4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8204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0" name="Google Shape;4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" name="Google Shape;4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" name="Google Shape;4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4890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" name="Google Shape;4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9964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" name="Google Shape;4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0995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" name="Google Shape;4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7312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" name="Google Shape;4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0982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6518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4385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4651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7769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3973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4760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52969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91374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7023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2037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77485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94880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5801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821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4d1cd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163e4d1cd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19206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9" name="Google Shape;4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Title 2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521494" y="857554"/>
            <a:ext cx="8053685" cy="972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521474" y="1915466"/>
            <a:ext cx="8060400" cy="20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1" y="3057525"/>
            <a:ext cx="1916906" cy="2085975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4"/>
          <p:cNvSpPr/>
          <p:nvPr/>
        </p:nvSpPr>
        <p:spPr>
          <a:xfrm>
            <a:off x="7434318" y="4178819"/>
            <a:ext cx="1709682" cy="96468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1494" y="155723"/>
            <a:ext cx="2403000" cy="35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521495" y="1275160"/>
            <a:ext cx="8101013" cy="345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id="25" name="Google Shape;2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5"/>
          <p:cNvSpPr txBox="1"/>
          <p:nvPr/>
        </p:nvSpPr>
        <p:spPr>
          <a:xfrm>
            <a:off x="6072608" y="4888643"/>
            <a:ext cx="1793758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AU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CRICOS code 00025B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/>
          <p:nvPr/>
        </p:nvSpPr>
        <p:spPr>
          <a:xfrm>
            <a:off x="0" y="0"/>
            <a:ext cx="9144000" cy="6966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6"/>
          <p:cNvPicPr preferRelativeResize="0"/>
          <p:nvPr/>
        </p:nvPicPr>
        <p:blipFill rotWithShape="1">
          <a:blip r:embed="rId2">
            <a:alphaModFix/>
          </a:blip>
          <a:srcRect l="74412" t="80198" b="-1"/>
          <a:stretch/>
        </p:blipFill>
        <p:spPr>
          <a:xfrm>
            <a:off x="7389171" y="4124920"/>
            <a:ext cx="1754829" cy="101858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521494" y="870559"/>
            <a:ext cx="8053685" cy="972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521474" y="1928470"/>
            <a:ext cx="8060400" cy="20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16"/>
          <p:cNvPicPr preferRelativeResize="0"/>
          <p:nvPr/>
        </p:nvPicPr>
        <p:blipFill rotWithShape="1">
          <a:blip r:embed="rId2">
            <a:alphaModFix/>
          </a:blip>
          <a:srcRect t="59270" r="70475" b="-1"/>
          <a:stretch/>
        </p:blipFill>
        <p:spPr>
          <a:xfrm>
            <a:off x="1" y="3048528"/>
            <a:ext cx="2024829" cy="209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494" y="155723"/>
            <a:ext cx="2403000" cy="35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3">
  <p:cSld name="Title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521494" y="857554"/>
            <a:ext cx="8046485" cy="972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521479" y="1915466"/>
            <a:ext cx="8053194" cy="20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/>
          <p:nvPr/>
        </p:nvSpPr>
        <p:spPr>
          <a:xfrm>
            <a:off x="1" y="0"/>
            <a:ext cx="9143999" cy="69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637" y="176165"/>
            <a:ext cx="2241000" cy="33943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7"/>
          <p:cNvSpPr txBox="1"/>
          <p:nvPr/>
        </p:nvSpPr>
        <p:spPr>
          <a:xfrm>
            <a:off x="1" y="-1189537"/>
            <a:ext cx="5724128" cy="103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choose your own image </a:t>
            </a:r>
            <a:b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‘Picture’ is already selected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 to the ‘File’ button and select another image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 text colour as necessary to suit the image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7"/>
          <p:cNvSpPr/>
          <p:nvPr/>
        </p:nvSpPr>
        <p:spPr>
          <a:xfrm>
            <a:off x="1" y="3057525"/>
            <a:ext cx="1916906" cy="2085975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7434318" y="4178819"/>
            <a:ext cx="1709682" cy="96468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>
  <p:cSld name="Section Divi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108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269" y="206999"/>
            <a:ext cx="2403000" cy="35434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521495" y="1275608"/>
            <a:ext cx="8076510" cy="91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521495" y="2335308"/>
            <a:ext cx="8076510" cy="153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/>
          <p:nvPr/>
        </p:nvSpPr>
        <p:spPr>
          <a:xfrm>
            <a:off x="1" y="3057525"/>
            <a:ext cx="1916906" cy="2085975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8"/>
          <p:cNvSpPr/>
          <p:nvPr/>
        </p:nvSpPr>
        <p:spPr>
          <a:xfrm>
            <a:off x="7434318" y="4178819"/>
            <a:ext cx="1709682" cy="96468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Divider (Editable)">
  <p:cSld name="Section Divider (Editable)">
    <p:bg>
      <p:bgPr>
        <a:solidFill>
          <a:schemeClr val="accent3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521495" y="1275608"/>
            <a:ext cx="8076510" cy="91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21495" y="2335308"/>
            <a:ext cx="8076510" cy="153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/>
          <p:nvPr/>
        </p:nvSpPr>
        <p:spPr>
          <a:xfrm>
            <a:off x="1" y="-790124"/>
            <a:ext cx="5724128" cy="715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‘change ‘Solid fill’ to a colour from the palette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269" y="206999"/>
            <a:ext cx="2403000" cy="35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2">
  <p:cSld name="Section Divider 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/>
          <p:nvPr/>
        </p:nvSpPr>
        <p:spPr>
          <a:xfrm>
            <a:off x="1" y="3057525"/>
            <a:ext cx="2555875" cy="2085975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0"/>
          <p:cNvSpPr/>
          <p:nvPr/>
        </p:nvSpPr>
        <p:spPr>
          <a:xfrm>
            <a:off x="6894187" y="4188130"/>
            <a:ext cx="2249561" cy="955371"/>
          </a:xfrm>
          <a:custGeom>
            <a:avLst/>
            <a:gdLst/>
            <a:ahLst/>
            <a:cxnLst/>
            <a:rect l="l" t="t" r="r" b="b"/>
            <a:pathLst>
              <a:path w="2249561" h="1273828" extrusionOk="0">
                <a:moveTo>
                  <a:pt x="0" y="986957"/>
                </a:moveTo>
                <a:cubicBezTo>
                  <a:pt x="690087" y="358432"/>
                  <a:pt x="1188931" y="-294000"/>
                  <a:pt x="2249561" y="141287"/>
                </a:cubicBezTo>
                <a:lnTo>
                  <a:pt x="2249561" y="1273828"/>
                </a:lnTo>
                <a:cubicBezTo>
                  <a:pt x="1762671" y="1220039"/>
                  <a:pt x="570560" y="550676"/>
                  <a:pt x="0" y="9869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0"/>
          <p:cNvSpPr txBox="1">
            <a:spLocks noGrp="1"/>
          </p:cNvSpPr>
          <p:nvPr>
            <p:ph type="title"/>
          </p:nvPr>
        </p:nvSpPr>
        <p:spPr>
          <a:xfrm>
            <a:off x="521495" y="1275608"/>
            <a:ext cx="8076510" cy="91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>
            <a:off x="521495" y="2335308"/>
            <a:ext cx="8076510" cy="153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1"/>
          </p:nvPr>
        </p:nvSpPr>
        <p:spPr>
          <a:xfrm>
            <a:off x="521494" y="1275160"/>
            <a:ext cx="3914144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2"/>
          </p:nvPr>
        </p:nvSpPr>
        <p:spPr>
          <a:xfrm>
            <a:off x="4716464" y="1275160"/>
            <a:ext cx="3915000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70" name="Google Shape;7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>
  <p:cSld name="Title, Subtitle &amp;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>
            <a:off x="521495" y="1707654"/>
            <a:ext cx="8101013" cy="302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2"/>
          </p:nvPr>
        </p:nvSpPr>
        <p:spPr>
          <a:xfrm>
            <a:off x="521494" y="1275606"/>
            <a:ext cx="8101013" cy="378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2 Graphs">
  <p:cSld name="Title, Subtitle, 2 Graph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body" idx="1"/>
          </p:nvPr>
        </p:nvSpPr>
        <p:spPr>
          <a:xfrm>
            <a:off x="521495" y="1709665"/>
            <a:ext cx="3915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marL="914400" lvl="1" indent="-2857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accent1"/>
                </a:solidFill>
              </a:defRPr>
            </a:lvl2pPr>
            <a:lvl3pPr marL="1371600" lvl="2" indent="-2857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Char char="­"/>
              <a:defRPr sz="900">
                <a:solidFill>
                  <a:schemeClr val="accent1"/>
                </a:solidFill>
              </a:defRPr>
            </a:lvl3pPr>
            <a:lvl4pPr marL="1828800" lvl="3" indent="-2857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•"/>
              <a:defRPr sz="900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2"/>
          </p:nvPr>
        </p:nvSpPr>
        <p:spPr>
          <a:xfrm>
            <a:off x="521495" y="2022291"/>
            <a:ext cx="3915000" cy="270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3"/>
          </p:nvPr>
        </p:nvSpPr>
        <p:spPr>
          <a:xfrm>
            <a:off x="4709633" y="1709665"/>
            <a:ext cx="3915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marL="914400" lvl="1" indent="-2857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accent1"/>
                </a:solidFill>
              </a:defRPr>
            </a:lvl2pPr>
            <a:lvl3pPr marL="1371600" lvl="2" indent="-2857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Char char="­"/>
              <a:defRPr sz="900">
                <a:solidFill>
                  <a:schemeClr val="accent1"/>
                </a:solidFill>
              </a:defRPr>
            </a:lvl3pPr>
            <a:lvl4pPr marL="1828800" lvl="3" indent="-2857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•"/>
              <a:defRPr sz="900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4"/>
          </p:nvPr>
        </p:nvSpPr>
        <p:spPr>
          <a:xfrm>
            <a:off x="4709633" y="2022291"/>
            <a:ext cx="3915000" cy="270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5"/>
          </p:nvPr>
        </p:nvSpPr>
        <p:spPr>
          <a:xfrm>
            <a:off x="521495" y="1274400"/>
            <a:ext cx="8079582" cy="378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6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Layout Horizontal">
  <p:cSld name="Two Content Layout Horizontal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521494" y="1275159"/>
            <a:ext cx="8101013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body" idx="2"/>
          </p:nvPr>
        </p:nvSpPr>
        <p:spPr>
          <a:xfrm>
            <a:off x="521494" y="3111990"/>
            <a:ext cx="8101013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body" idx="1"/>
          </p:nvPr>
        </p:nvSpPr>
        <p:spPr>
          <a:xfrm>
            <a:off x="521494" y="1275160"/>
            <a:ext cx="2538256" cy="345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body" idx="2"/>
          </p:nvPr>
        </p:nvSpPr>
        <p:spPr>
          <a:xfrm>
            <a:off x="3304955" y="1275160"/>
            <a:ext cx="2538000" cy="345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3"/>
          </p:nvPr>
        </p:nvSpPr>
        <p:spPr>
          <a:xfrm>
            <a:off x="6084448" y="1275160"/>
            <a:ext cx="2538000" cy="345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4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Third Two Third Title and Content">
  <p:cSld name="One Third Two Third Title and Conte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body" idx="1"/>
          </p:nvPr>
        </p:nvSpPr>
        <p:spPr>
          <a:xfrm>
            <a:off x="3305287" y="1275160"/>
            <a:ext cx="5317220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2"/>
          </p:nvPr>
        </p:nvSpPr>
        <p:spPr>
          <a:xfrm>
            <a:off x="521494" y="1273994"/>
            <a:ext cx="2538000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6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Pullout">
  <p:cSld name="Picture with Pullou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>
            <a:spLocks noGrp="1"/>
          </p:cNvSpPr>
          <p:nvPr>
            <p:ph type="pic" idx="2"/>
          </p:nvPr>
        </p:nvSpPr>
        <p:spPr>
          <a:xfrm>
            <a:off x="0" y="468660"/>
            <a:ext cx="9143999" cy="467483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0" name="Google Shape;130;p27"/>
          <p:cNvSpPr txBox="1">
            <a:spLocks noGrp="1"/>
          </p:cNvSpPr>
          <p:nvPr>
            <p:ph type="body" idx="1"/>
          </p:nvPr>
        </p:nvSpPr>
        <p:spPr>
          <a:xfrm>
            <a:off x="521496" y="789385"/>
            <a:ext cx="2538411" cy="39475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5000" tIns="945000" rIns="135000" bIns="1350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/>
          </p:nvPr>
        </p:nvSpPr>
        <p:spPr>
          <a:xfrm>
            <a:off x="845586" y="1005576"/>
            <a:ext cx="1944216" cy="65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>
            <a:spLocks noGrp="1"/>
          </p:cNvSpPr>
          <p:nvPr>
            <p:ph type="pic" idx="2"/>
          </p:nvPr>
        </p:nvSpPr>
        <p:spPr>
          <a:xfrm>
            <a:off x="521495" y="1275160"/>
            <a:ext cx="8101012" cy="318683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0" name="Google Shape;140;p28"/>
          <p:cNvSpPr txBox="1">
            <a:spLocks noGrp="1"/>
          </p:cNvSpPr>
          <p:nvPr>
            <p:ph type="body" idx="1"/>
          </p:nvPr>
        </p:nvSpPr>
        <p:spPr>
          <a:xfrm>
            <a:off x="521495" y="4461990"/>
            <a:ext cx="8101011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Two Thirds">
  <p:cSld name="Text with Image Two Thirds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>
            <a:spLocks noGrp="1"/>
          </p:cNvSpPr>
          <p:nvPr>
            <p:ph type="pic" idx="2"/>
          </p:nvPr>
        </p:nvSpPr>
        <p:spPr>
          <a:xfrm>
            <a:off x="3305286" y="473234"/>
            <a:ext cx="5838713" cy="467564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0" name="Google Shape;150;p29"/>
          <p:cNvSpPr txBox="1">
            <a:spLocks noGrp="1"/>
          </p:cNvSpPr>
          <p:nvPr>
            <p:ph type="body" idx="1"/>
          </p:nvPr>
        </p:nvSpPr>
        <p:spPr>
          <a:xfrm>
            <a:off x="521495" y="1653648"/>
            <a:ext cx="2538000" cy="307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2538412" cy="756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Half">
  <p:cSld name="Text with Image Half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>
            <a:spLocks noGrp="1"/>
          </p:cNvSpPr>
          <p:nvPr>
            <p:ph type="pic" idx="2"/>
          </p:nvPr>
        </p:nvSpPr>
        <p:spPr>
          <a:xfrm>
            <a:off x="4574832" y="464642"/>
            <a:ext cx="4572099" cy="467874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521495" y="1275160"/>
            <a:ext cx="3906441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30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390644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One Third">
  <p:cSld name="Text with Image One Third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>
            <a:spLocks noGrp="1"/>
          </p:cNvSpPr>
          <p:nvPr>
            <p:ph type="pic" idx="2"/>
          </p:nvPr>
        </p:nvSpPr>
        <p:spPr>
          <a:xfrm>
            <a:off x="6095985" y="464899"/>
            <a:ext cx="3048871" cy="467997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521495" y="1275160"/>
            <a:ext cx="5317417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5317417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Two Thirds Alt">
  <p:cSld name="Text with Image Two Thirds Alt">
    <p:bg>
      <p:bgPr>
        <a:solidFill>
          <a:schemeClr val="accen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>
            <a:spLocks noGrp="1"/>
          </p:cNvSpPr>
          <p:nvPr>
            <p:ph type="pic" idx="2"/>
          </p:nvPr>
        </p:nvSpPr>
        <p:spPr>
          <a:xfrm>
            <a:off x="3307163" y="-2336"/>
            <a:ext cx="5836837" cy="515121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9" name="Google Shape;179;p32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body" idx="1"/>
          </p:nvPr>
        </p:nvSpPr>
        <p:spPr>
          <a:xfrm>
            <a:off x="521495" y="1653648"/>
            <a:ext cx="2538000" cy="307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­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dt" idx="10"/>
          </p:nvPr>
        </p:nvSpPr>
        <p:spPr>
          <a:xfrm>
            <a:off x="521494" y="113352"/>
            <a:ext cx="17820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1" y="-790124"/>
            <a:ext cx="5724128" cy="715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‘change ‘Solid fill’ to a colour from the palette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2538412" cy="756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Half Alt">
  <p:cSld name="Text with Image Half Alt">
    <p:bg>
      <p:bgPr>
        <a:solidFill>
          <a:schemeClr val="accen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>
            <a:spLocks noGrp="1"/>
          </p:cNvSpPr>
          <p:nvPr>
            <p:ph type="pic" idx="2"/>
          </p:nvPr>
        </p:nvSpPr>
        <p:spPr>
          <a:xfrm>
            <a:off x="4576709" y="-2083"/>
            <a:ext cx="4570224" cy="514546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7" name="Google Shape;187;p33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dt" idx="10"/>
          </p:nvPr>
        </p:nvSpPr>
        <p:spPr>
          <a:xfrm>
            <a:off x="521494" y="113352"/>
            <a:ext cx="17820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body" idx="3"/>
          </p:nvPr>
        </p:nvSpPr>
        <p:spPr>
          <a:xfrm>
            <a:off x="521494" y="1275160"/>
            <a:ext cx="3906440" cy="344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­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3"/>
          <p:cNvSpPr txBox="1"/>
          <p:nvPr/>
        </p:nvSpPr>
        <p:spPr>
          <a:xfrm>
            <a:off x="1" y="-790124"/>
            <a:ext cx="5724128" cy="715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‘change ‘Solid fill’ to a colour from the palette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390644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One Third Alt">
  <p:cSld name="Text with Image One Third Alt">
    <p:bg>
      <p:bgPr>
        <a:solidFill>
          <a:schemeClr val="accen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028385" cy="51518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4"/>
          <p:cNvSpPr txBox="1"/>
          <p:nvPr/>
        </p:nvSpPr>
        <p:spPr>
          <a:xfrm>
            <a:off x="1" y="-466959"/>
            <a:ext cx="5724128" cy="392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Clicking along the edge of purple container and change the shape fill colour.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>
            <a:spLocks noGrp="1"/>
          </p:cNvSpPr>
          <p:nvPr>
            <p:ph type="pic" idx="2"/>
          </p:nvPr>
        </p:nvSpPr>
        <p:spPr>
          <a:xfrm>
            <a:off x="6081638" y="-6588"/>
            <a:ext cx="3062362" cy="51514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98" name="Google Shape;198;p34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4"/>
          </p:nvPr>
        </p:nvSpPr>
        <p:spPr>
          <a:xfrm>
            <a:off x="521494" y="1275160"/>
            <a:ext cx="5317418" cy="344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­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532209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dt" idx="10"/>
          </p:nvPr>
        </p:nvSpPr>
        <p:spPr>
          <a:xfrm>
            <a:off x="521494" y="113352"/>
            <a:ext cx="17820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4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4 Images">
  <p:cSld name="Text with 4 Image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>
            <a:spLocks noGrp="1"/>
          </p:cNvSpPr>
          <p:nvPr>
            <p:ph type="pic" idx="2"/>
          </p:nvPr>
        </p:nvSpPr>
        <p:spPr>
          <a:xfrm>
            <a:off x="3305287" y="473233"/>
            <a:ext cx="2916000" cy="213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6" name="Google Shape;206;p35"/>
          <p:cNvSpPr txBox="1">
            <a:spLocks noGrp="1"/>
          </p:cNvSpPr>
          <p:nvPr>
            <p:ph type="body" idx="1"/>
          </p:nvPr>
        </p:nvSpPr>
        <p:spPr>
          <a:xfrm>
            <a:off x="521495" y="1653648"/>
            <a:ext cx="2538000" cy="307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5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35"/>
          <p:cNvSpPr>
            <a:spLocks noGrp="1"/>
          </p:cNvSpPr>
          <p:nvPr>
            <p:ph type="pic" idx="4"/>
          </p:nvPr>
        </p:nvSpPr>
        <p:spPr>
          <a:xfrm>
            <a:off x="3305287" y="2614314"/>
            <a:ext cx="2916000" cy="213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9" name="Google Shape;209;p35"/>
          <p:cNvSpPr>
            <a:spLocks noGrp="1"/>
          </p:cNvSpPr>
          <p:nvPr>
            <p:ph type="pic" idx="5"/>
          </p:nvPr>
        </p:nvSpPr>
        <p:spPr>
          <a:xfrm>
            <a:off x="6228000" y="473233"/>
            <a:ext cx="2916000" cy="213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0" name="Google Shape;210;p35"/>
          <p:cNvSpPr>
            <a:spLocks noGrp="1"/>
          </p:cNvSpPr>
          <p:nvPr>
            <p:ph type="pic" idx="6"/>
          </p:nvPr>
        </p:nvSpPr>
        <p:spPr>
          <a:xfrm>
            <a:off x="6228000" y="2614314"/>
            <a:ext cx="2916000" cy="213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1" name="Google Shape;211;p35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5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2538412" cy="756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5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5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 &amp; Images">
  <p:cSld name="Three Column Text &amp; Image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>
            <a:spLocks noGrp="1"/>
          </p:cNvSpPr>
          <p:nvPr>
            <p:ph type="pic" idx="2"/>
          </p:nvPr>
        </p:nvSpPr>
        <p:spPr>
          <a:xfrm>
            <a:off x="521495" y="2585250"/>
            <a:ext cx="2538000" cy="214629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9" name="Google Shape;219;p36"/>
          <p:cNvSpPr>
            <a:spLocks noGrp="1"/>
          </p:cNvSpPr>
          <p:nvPr>
            <p:ph type="pic" idx="3"/>
          </p:nvPr>
        </p:nvSpPr>
        <p:spPr>
          <a:xfrm>
            <a:off x="3307220" y="2585250"/>
            <a:ext cx="2538000" cy="214629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0" name="Google Shape;220;p36"/>
          <p:cNvSpPr>
            <a:spLocks noGrp="1"/>
          </p:cNvSpPr>
          <p:nvPr>
            <p:ph type="pic" idx="4"/>
          </p:nvPr>
        </p:nvSpPr>
        <p:spPr>
          <a:xfrm>
            <a:off x="6084507" y="2584690"/>
            <a:ext cx="2538000" cy="214629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1" name="Google Shape;221;p36"/>
          <p:cNvSpPr txBox="1">
            <a:spLocks noGrp="1"/>
          </p:cNvSpPr>
          <p:nvPr>
            <p:ph type="body" idx="1"/>
          </p:nvPr>
        </p:nvSpPr>
        <p:spPr>
          <a:xfrm>
            <a:off x="521494" y="1275159"/>
            <a:ext cx="2538000" cy="129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body" idx="5"/>
          </p:nvPr>
        </p:nvSpPr>
        <p:spPr>
          <a:xfrm>
            <a:off x="3307220" y="1275159"/>
            <a:ext cx="2538000" cy="129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body" idx="6"/>
          </p:nvPr>
        </p:nvSpPr>
        <p:spPr>
          <a:xfrm>
            <a:off x="6084507" y="1275159"/>
            <a:ext cx="2538000" cy="129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body" idx="7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6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6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6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6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s &amp; Text">
  <p:cSld name="Icons &amp; Tex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>
            <a:spLocks noGrp="1"/>
          </p:cNvSpPr>
          <p:nvPr>
            <p:ph type="pic" idx="2"/>
          </p:nvPr>
        </p:nvSpPr>
        <p:spPr>
          <a:xfrm>
            <a:off x="1268790" y="1275606"/>
            <a:ext cx="1079923" cy="89968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33" name="Google Shape;233;p37"/>
          <p:cNvSpPr txBox="1">
            <a:spLocks noGrp="1"/>
          </p:cNvSpPr>
          <p:nvPr>
            <p:ph type="body" idx="1"/>
          </p:nvPr>
        </p:nvSpPr>
        <p:spPr>
          <a:xfrm>
            <a:off x="539751" y="2247714"/>
            <a:ext cx="2538000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37"/>
          <p:cNvSpPr txBox="1">
            <a:spLocks noGrp="1"/>
          </p:cNvSpPr>
          <p:nvPr>
            <p:ph type="body" idx="3"/>
          </p:nvPr>
        </p:nvSpPr>
        <p:spPr>
          <a:xfrm>
            <a:off x="539751" y="2453318"/>
            <a:ext cx="2538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body" idx="4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37"/>
          <p:cNvSpPr>
            <a:spLocks noGrp="1"/>
          </p:cNvSpPr>
          <p:nvPr>
            <p:ph type="pic" idx="5"/>
          </p:nvPr>
        </p:nvSpPr>
        <p:spPr>
          <a:xfrm>
            <a:off x="4032038" y="1275606"/>
            <a:ext cx="1079923" cy="89968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37" name="Google Shape;237;p37"/>
          <p:cNvSpPr txBox="1">
            <a:spLocks noGrp="1"/>
          </p:cNvSpPr>
          <p:nvPr>
            <p:ph type="body" idx="6"/>
          </p:nvPr>
        </p:nvSpPr>
        <p:spPr>
          <a:xfrm>
            <a:off x="3302999" y="2247714"/>
            <a:ext cx="2538000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body" idx="7"/>
          </p:nvPr>
        </p:nvSpPr>
        <p:spPr>
          <a:xfrm>
            <a:off x="3302999" y="2453318"/>
            <a:ext cx="2538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7"/>
          <p:cNvSpPr>
            <a:spLocks noGrp="1"/>
          </p:cNvSpPr>
          <p:nvPr>
            <p:ph type="pic" idx="8"/>
          </p:nvPr>
        </p:nvSpPr>
        <p:spPr>
          <a:xfrm>
            <a:off x="6797369" y="1275680"/>
            <a:ext cx="1079923" cy="89968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0" name="Google Shape;240;p37"/>
          <p:cNvSpPr txBox="1">
            <a:spLocks noGrp="1"/>
          </p:cNvSpPr>
          <p:nvPr>
            <p:ph type="body" idx="9"/>
          </p:nvPr>
        </p:nvSpPr>
        <p:spPr>
          <a:xfrm>
            <a:off x="6068330" y="2247788"/>
            <a:ext cx="2538000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37"/>
          <p:cNvSpPr txBox="1">
            <a:spLocks noGrp="1"/>
          </p:cNvSpPr>
          <p:nvPr>
            <p:ph type="body" idx="13"/>
          </p:nvPr>
        </p:nvSpPr>
        <p:spPr>
          <a:xfrm>
            <a:off x="6068330" y="2453392"/>
            <a:ext cx="2538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37"/>
          <p:cNvSpPr>
            <a:spLocks noGrp="1"/>
          </p:cNvSpPr>
          <p:nvPr>
            <p:ph type="pic" idx="14"/>
          </p:nvPr>
        </p:nvSpPr>
        <p:spPr>
          <a:xfrm>
            <a:off x="1268790" y="3057931"/>
            <a:ext cx="1079923" cy="89968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3" name="Google Shape;243;p37"/>
          <p:cNvSpPr txBox="1">
            <a:spLocks noGrp="1"/>
          </p:cNvSpPr>
          <p:nvPr>
            <p:ph type="body" idx="15"/>
          </p:nvPr>
        </p:nvSpPr>
        <p:spPr>
          <a:xfrm>
            <a:off x="539751" y="4030040"/>
            <a:ext cx="2538000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37"/>
          <p:cNvSpPr txBox="1">
            <a:spLocks noGrp="1"/>
          </p:cNvSpPr>
          <p:nvPr>
            <p:ph type="body" idx="16"/>
          </p:nvPr>
        </p:nvSpPr>
        <p:spPr>
          <a:xfrm>
            <a:off x="539751" y="4235643"/>
            <a:ext cx="2538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37"/>
          <p:cNvSpPr>
            <a:spLocks noGrp="1"/>
          </p:cNvSpPr>
          <p:nvPr>
            <p:ph type="pic" idx="17"/>
          </p:nvPr>
        </p:nvSpPr>
        <p:spPr>
          <a:xfrm>
            <a:off x="4032038" y="3057931"/>
            <a:ext cx="1079923" cy="89968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6" name="Google Shape;246;p37"/>
          <p:cNvSpPr txBox="1">
            <a:spLocks noGrp="1"/>
          </p:cNvSpPr>
          <p:nvPr>
            <p:ph type="body" idx="18"/>
          </p:nvPr>
        </p:nvSpPr>
        <p:spPr>
          <a:xfrm>
            <a:off x="3302999" y="4030040"/>
            <a:ext cx="2538000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7"/>
          <p:cNvSpPr txBox="1">
            <a:spLocks noGrp="1"/>
          </p:cNvSpPr>
          <p:nvPr>
            <p:ph type="body" idx="19"/>
          </p:nvPr>
        </p:nvSpPr>
        <p:spPr>
          <a:xfrm>
            <a:off x="3302999" y="4235643"/>
            <a:ext cx="2538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7"/>
          <p:cNvSpPr>
            <a:spLocks noGrp="1"/>
          </p:cNvSpPr>
          <p:nvPr>
            <p:ph type="pic" idx="20"/>
          </p:nvPr>
        </p:nvSpPr>
        <p:spPr>
          <a:xfrm>
            <a:off x="6797369" y="3058006"/>
            <a:ext cx="1079923" cy="89968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9" name="Google Shape;249;p37"/>
          <p:cNvSpPr txBox="1">
            <a:spLocks noGrp="1"/>
          </p:cNvSpPr>
          <p:nvPr>
            <p:ph type="body" idx="21"/>
          </p:nvPr>
        </p:nvSpPr>
        <p:spPr>
          <a:xfrm>
            <a:off x="6068330" y="4030114"/>
            <a:ext cx="2538000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body" idx="22"/>
          </p:nvPr>
        </p:nvSpPr>
        <p:spPr>
          <a:xfrm>
            <a:off x="6068330" y="4235717"/>
            <a:ext cx="2538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37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7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7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der">
  <p:cSld name="Order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>
            <a:spLocks noGrp="1"/>
          </p:cNvSpPr>
          <p:nvPr>
            <p:ph type="body" idx="1"/>
          </p:nvPr>
        </p:nvSpPr>
        <p:spPr>
          <a:xfrm>
            <a:off x="809378" y="1437756"/>
            <a:ext cx="1188231" cy="11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4000" tIns="54000" rIns="54000" bIns="54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38"/>
          <p:cNvSpPr txBox="1">
            <a:spLocks noGrp="1"/>
          </p:cNvSpPr>
          <p:nvPr>
            <p:ph type="body" idx="2"/>
          </p:nvPr>
        </p:nvSpPr>
        <p:spPr>
          <a:xfrm>
            <a:off x="521495" y="2895786"/>
            <a:ext cx="1763997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body" idx="3"/>
          </p:nvPr>
        </p:nvSpPr>
        <p:spPr>
          <a:xfrm>
            <a:off x="521495" y="3101389"/>
            <a:ext cx="1763997" cy="113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38"/>
          <p:cNvSpPr txBox="1">
            <a:spLocks noGrp="1"/>
          </p:cNvSpPr>
          <p:nvPr>
            <p:ph type="body" idx="4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8"/>
          <p:cNvSpPr txBox="1">
            <a:spLocks noGrp="1"/>
          </p:cNvSpPr>
          <p:nvPr>
            <p:ph type="body" idx="5"/>
          </p:nvPr>
        </p:nvSpPr>
        <p:spPr>
          <a:xfrm>
            <a:off x="2949090" y="1437756"/>
            <a:ext cx="1188231" cy="1188000"/>
          </a:xfrm>
          <a:prstGeom prst="rect">
            <a:avLst/>
          </a:prstGeom>
          <a:solidFill>
            <a:srgbClr val="962A8B"/>
          </a:solidFill>
          <a:ln>
            <a:noFill/>
          </a:ln>
        </p:spPr>
        <p:txBody>
          <a:bodyPr spcFirstLastPara="1" wrap="square" lIns="54000" tIns="54000" rIns="54000" bIns="54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38"/>
          <p:cNvSpPr txBox="1">
            <a:spLocks noGrp="1"/>
          </p:cNvSpPr>
          <p:nvPr>
            <p:ph type="body" idx="6"/>
          </p:nvPr>
        </p:nvSpPr>
        <p:spPr>
          <a:xfrm>
            <a:off x="2661207" y="2895786"/>
            <a:ext cx="1763997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38"/>
          <p:cNvSpPr txBox="1">
            <a:spLocks noGrp="1"/>
          </p:cNvSpPr>
          <p:nvPr>
            <p:ph type="body" idx="7"/>
          </p:nvPr>
        </p:nvSpPr>
        <p:spPr>
          <a:xfrm>
            <a:off x="2661207" y="3101389"/>
            <a:ext cx="1763997" cy="113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38"/>
          <p:cNvSpPr txBox="1">
            <a:spLocks noGrp="1"/>
          </p:cNvSpPr>
          <p:nvPr>
            <p:ph type="body" idx="8"/>
          </p:nvPr>
        </p:nvSpPr>
        <p:spPr>
          <a:xfrm>
            <a:off x="5014620" y="1437756"/>
            <a:ext cx="1188231" cy="1188000"/>
          </a:xfrm>
          <a:prstGeom prst="rect">
            <a:avLst/>
          </a:prstGeom>
          <a:solidFill>
            <a:srgbClr val="999490"/>
          </a:solidFill>
          <a:ln>
            <a:noFill/>
          </a:ln>
        </p:spPr>
        <p:txBody>
          <a:bodyPr spcFirstLastPara="1" wrap="square" lIns="54000" tIns="54000" rIns="54000" bIns="54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8"/>
          <p:cNvSpPr txBox="1">
            <a:spLocks noGrp="1"/>
          </p:cNvSpPr>
          <p:nvPr>
            <p:ph type="body" idx="9"/>
          </p:nvPr>
        </p:nvSpPr>
        <p:spPr>
          <a:xfrm>
            <a:off x="4726737" y="2895786"/>
            <a:ext cx="1763997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body" idx="13"/>
          </p:nvPr>
        </p:nvSpPr>
        <p:spPr>
          <a:xfrm>
            <a:off x="4726737" y="3101389"/>
            <a:ext cx="1763997" cy="113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body" idx="14"/>
          </p:nvPr>
        </p:nvSpPr>
        <p:spPr>
          <a:xfrm>
            <a:off x="7136076" y="1437756"/>
            <a:ext cx="1188231" cy="1188000"/>
          </a:xfrm>
          <a:prstGeom prst="rect">
            <a:avLst/>
          </a:prstGeom>
          <a:solidFill>
            <a:srgbClr val="D7D1CC"/>
          </a:solidFill>
          <a:ln>
            <a:noFill/>
          </a:ln>
        </p:spPr>
        <p:txBody>
          <a:bodyPr spcFirstLastPara="1" wrap="square" lIns="54000" tIns="54000" rIns="54000" bIns="54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8"/>
          <p:cNvSpPr txBox="1">
            <a:spLocks noGrp="1"/>
          </p:cNvSpPr>
          <p:nvPr>
            <p:ph type="body" idx="15"/>
          </p:nvPr>
        </p:nvSpPr>
        <p:spPr>
          <a:xfrm>
            <a:off x="6848193" y="2895786"/>
            <a:ext cx="1763997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body" idx="16"/>
          </p:nvPr>
        </p:nvSpPr>
        <p:spPr>
          <a:xfrm>
            <a:off x="6848193" y="3101389"/>
            <a:ext cx="1763997" cy="113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8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8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8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Dark Purple Block">
  <p:cSld name="Text with Dark Purple Block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body" idx="1"/>
          </p:nvPr>
        </p:nvSpPr>
        <p:spPr>
          <a:xfrm>
            <a:off x="4572002" y="1275160"/>
            <a:ext cx="4050505" cy="3456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9" name="Google Shape;279;p39"/>
          <p:cNvSpPr txBox="1">
            <a:spLocks noGrp="1"/>
          </p:cNvSpPr>
          <p:nvPr>
            <p:ph type="body" idx="2"/>
          </p:nvPr>
        </p:nvSpPr>
        <p:spPr>
          <a:xfrm>
            <a:off x="521495" y="1275160"/>
            <a:ext cx="3898356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39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9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9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9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9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9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Purple Block">
  <p:cSld name="Text with Purple Block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>
            <a:spLocks noGrp="1"/>
          </p:cNvSpPr>
          <p:nvPr>
            <p:ph type="body" idx="1"/>
          </p:nvPr>
        </p:nvSpPr>
        <p:spPr>
          <a:xfrm>
            <a:off x="4572002" y="1275159"/>
            <a:ext cx="4050505" cy="3456385"/>
          </a:xfrm>
          <a:prstGeom prst="rect">
            <a:avLst/>
          </a:prstGeom>
          <a:solidFill>
            <a:srgbClr val="962A8B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40"/>
          <p:cNvSpPr txBox="1">
            <a:spLocks noGrp="1"/>
          </p:cNvSpPr>
          <p:nvPr>
            <p:ph type="body" idx="2"/>
          </p:nvPr>
        </p:nvSpPr>
        <p:spPr>
          <a:xfrm>
            <a:off x="521100" y="1275159"/>
            <a:ext cx="3906835" cy="345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40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40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40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0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0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Neutral 1 Block">
  <p:cSld name="Text with Neutral 1 Block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>
            <a:spLocks noGrp="1"/>
          </p:cNvSpPr>
          <p:nvPr>
            <p:ph type="body" idx="1"/>
          </p:nvPr>
        </p:nvSpPr>
        <p:spPr>
          <a:xfrm>
            <a:off x="4572002" y="1275160"/>
            <a:ext cx="4050504" cy="3456386"/>
          </a:xfrm>
          <a:prstGeom prst="rect">
            <a:avLst/>
          </a:prstGeom>
          <a:solidFill>
            <a:srgbClr val="D7D1C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41"/>
          <p:cNvSpPr txBox="1">
            <a:spLocks noGrp="1"/>
          </p:cNvSpPr>
          <p:nvPr>
            <p:ph type="body" idx="2"/>
          </p:nvPr>
        </p:nvSpPr>
        <p:spPr>
          <a:xfrm>
            <a:off x="521100" y="1275160"/>
            <a:ext cx="3906835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41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1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41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Neutral 2 Block">
  <p:cSld name="Text with Neutral 2 Block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>
            <a:spLocks noGrp="1"/>
          </p:cNvSpPr>
          <p:nvPr>
            <p:ph type="body" idx="1"/>
          </p:nvPr>
        </p:nvSpPr>
        <p:spPr>
          <a:xfrm>
            <a:off x="4572002" y="1275160"/>
            <a:ext cx="4050505" cy="3456384"/>
          </a:xfrm>
          <a:prstGeom prst="rect">
            <a:avLst/>
          </a:prstGeom>
          <a:solidFill>
            <a:srgbClr val="99949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42"/>
          <p:cNvSpPr txBox="1">
            <a:spLocks noGrp="1"/>
          </p:cNvSpPr>
          <p:nvPr>
            <p:ph type="body" idx="2"/>
          </p:nvPr>
        </p:nvSpPr>
        <p:spPr>
          <a:xfrm>
            <a:off x="521100" y="1275159"/>
            <a:ext cx="3906835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42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42"/>
          <p:cNvSpPr txBox="1">
            <a:spLocks noGrp="1"/>
          </p:cNvSpPr>
          <p:nvPr>
            <p:ph type="body" idx="3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42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2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42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42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ullouts">
  <p:cSld name="Three Pullouts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>
            <a:spLocks noGrp="1"/>
          </p:cNvSpPr>
          <p:nvPr>
            <p:ph type="body" idx="1"/>
          </p:nvPr>
        </p:nvSpPr>
        <p:spPr>
          <a:xfrm>
            <a:off x="6084095" y="1275160"/>
            <a:ext cx="2538411" cy="3461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35000" tIns="81000" rIns="135000" bIns="1350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43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3"/>
          <p:cNvSpPr txBox="1">
            <a:spLocks noGrp="1"/>
          </p:cNvSpPr>
          <p:nvPr>
            <p:ph type="body" idx="2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43"/>
          <p:cNvSpPr txBox="1">
            <a:spLocks noGrp="1"/>
          </p:cNvSpPr>
          <p:nvPr>
            <p:ph type="body" idx="3"/>
          </p:nvPr>
        </p:nvSpPr>
        <p:spPr>
          <a:xfrm>
            <a:off x="521496" y="1275160"/>
            <a:ext cx="2538411" cy="3461782"/>
          </a:xfrm>
          <a:prstGeom prst="rect">
            <a:avLst/>
          </a:prstGeom>
          <a:solidFill>
            <a:srgbClr val="962A8B"/>
          </a:solidFill>
          <a:ln>
            <a:noFill/>
          </a:ln>
        </p:spPr>
        <p:txBody>
          <a:bodyPr spcFirstLastPara="1" wrap="square" lIns="135000" tIns="81000" rIns="135000" bIns="1350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43"/>
          <p:cNvSpPr txBox="1">
            <a:spLocks noGrp="1"/>
          </p:cNvSpPr>
          <p:nvPr>
            <p:ph type="body" idx="4"/>
          </p:nvPr>
        </p:nvSpPr>
        <p:spPr>
          <a:xfrm>
            <a:off x="3290441" y="1269679"/>
            <a:ext cx="2538411" cy="3461782"/>
          </a:xfrm>
          <a:prstGeom prst="rect">
            <a:avLst/>
          </a:prstGeom>
          <a:solidFill>
            <a:srgbClr val="999490"/>
          </a:solidFill>
          <a:ln>
            <a:noFill/>
          </a:ln>
        </p:spPr>
        <p:txBody>
          <a:bodyPr spcFirstLastPara="1" wrap="square" lIns="135000" tIns="81000" rIns="135000" bIns="1350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43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43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4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layout 1">
  <p:cSld name="Multi-layout 1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>
            <a:spLocks noGrp="1"/>
          </p:cNvSpPr>
          <p:nvPr>
            <p:ph type="body" idx="1"/>
          </p:nvPr>
        </p:nvSpPr>
        <p:spPr>
          <a:xfrm>
            <a:off x="521100" y="2695284"/>
            <a:ext cx="3898900" cy="203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4"/>
          <p:cNvSpPr txBox="1">
            <a:spLocks noGrp="1"/>
          </p:cNvSpPr>
          <p:nvPr>
            <p:ph type="body" idx="2"/>
          </p:nvPr>
        </p:nvSpPr>
        <p:spPr>
          <a:xfrm>
            <a:off x="4716463" y="1518607"/>
            <a:ext cx="3898800" cy="182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4"/>
          <p:cNvSpPr txBox="1">
            <a:spLocks noGrp="1"/>
          </p:cNvSpPr>
          <p:nvPr>
            <p:ph type="body" idx="3"/>
          </p:nvPr>
        </p:nvSpPr>
        <p:spPr>
          <a:xfrm>
            <a:off x="4716464" y="3451618"/>
            <a:ext cx="3898900" cy="1275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4"/>
          <p:cNvSpPr txBox="1">
            <a:spLocks noGrp="1"/>
          </p:cNvSpPr>
          <p:nvPr>
            <p:ph type="body" idx="4"/>
          </p:nvPr>
        </p:nvSpPr>
        <p:spPr>
          <a:xfrm>
            <a:off x="521100" y="1275606"/>
            <a:ext cx="3898899" cy="13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44"/>
          <p:cNvSpPr txBox="1">
            <a:spLocks noGrp="1"/>
          </p:cNvSpPr>
          <p:nvPr>
            <p:ph type="body" idx="5"/>
          </p:nvPr>
        </p:nvSpPr>
        <p:spPr>
          <a:xfrm>
            <a:off x="4716464" y="1275607"/>
            <a:ext cx="38989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 b="1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44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44"/>
          <p:cNvSpPr txBox="1">
            <a:spLocks noGrp="1"/>
          </p:cNvSpPr>
          <p:nvPr>
            <p:ph type="body" idx="6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44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4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44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44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layout 2">
  <p:cSld name="Multi-layout 2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>
            <a:spLocks noGrp="1"/>
          </p:cNvSpPr>
          <p:nvPr>
            <p:ph type="body" idx="1"/>
          </p:nvPr>
        </p:nvSpPr>
        <p:spPr>
          <a:xfrm>
            <a:off x="4714875" y="2008263"/>
            <a:ext cx="3914999" cy="121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45"/>
          <p:cNvSpPr txBox="1">
            <a:spLocks noGrp="1"/>
          </p:cNvSpPr>
          <p:nvPr>
            <p:ph type="body" idx="2"/>
          </p:nvPr>
        </p:nvSpPr>
        <p:spPr>
          <a:xfrm>
            <a:off x="4714875" y="3520607"/>
            <a:ext cx="3914997" cy="121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45"/>
          <p:cNvSpPr txBox="1">
            <a:spLocks noGrp="1"/>
          </p:cNvSpPr>
          <p:nvPr>
            <p:ph type="body" idx="3"/>
          </p:nvPr>
        </p:nvSpPr>
        <p:spPr>
          <a:xfrm>
            <a:off x="4714875" y="1709744"/>
            <a:ext cx="3916602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45"/>
          <p:cNvSpPr txBox="1">
            <a:spLocks noGrp="1"/>
          </p:cNvSpPr>
          <p:nvPr>
            <p:ph type="body" idx="4"/>
          </p:nvPr>
        </p:nvSpPr>
        <p:spPr>
          <a:xfrm>
            <a:off x="4714875" y="3300858"/>
            <a:ext cx="3916602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5"/>
          <p:cNvSpPr txBox="1">
            <a:spLocks noGrp="1"/>
          </p:cNvSpPr>
          <p:nvPr>
            <p:ph type="body" idx="5"/>
          </p:nvPr>
        </p:nvSpPr>
        <p:spPr>
          <a:xfrm>
            <a:off x="521100" y="1709397"/>
            <a:ext cx="3887788" cy="151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45"/>
          <p:cNvSpPr txBox="1">
            <a:spLocks noGrp="1"/>
          </p:cNvSpPr>
          <p:nvPr>
            <p:ph type="body" idx="6"/>
          </p:nvPr>
        </p:nvSpPr>
        <p:spPr>
          <a:xfrm>
            <a:off x="521100" y="3300858"/>
            <a:ext cx="3887788" cy="143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45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5"/>
          <p:cNvSpPr txBox="1">
            <a:spLocks noGrp="1"/>
          </p:cNvSpPr>
          <p:nvPr>
            <p:ph type="body" idx="7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45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5"/>
          <p:cNvSpPr txBox="1">
            <a:spLocks noGrp="1"/>
          </p:cNvSpPr>
          <p:nvPr>
            <p:ph type="body" idx="8"/>
          </p:nvPr>
        </p:nvSpPr>
        <p:spPr>
          <a:xfrm>
            <a:off x="521494" y="1275606"/>
            <a:ext cx="8101013" cy="378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5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45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46"/>
          <p:cNvSpPr txBox="1">
            <a:spLocks noGrp="1"/>
          </p:cNvSpPr>
          <p:nvPr>
            <p:ph type="body" idx="1"/>
          </p:nvPr>
        </p:nvSpPr>
        <p:spPr>
          <a:xfrm>
            <a:off x="3300413" y="4893469"/>
            <a:ext cx="253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 b="1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46"/>
          <p:cNvSpPr/>
          <p:nvPr/>
        </p:nvSpPr>
        <p:spPr>
          <a:xfrm flipH="1">
            <a:off x="0" y="0"/>
            <a:ext cx="9144000" cy="472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3451" y="114672"/>
            <a:ext cx="908013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6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6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randed">
  <p:cSld name="Blank Branded">
    <p:bg>
      <p:bgPr>
        <a:solidFill>
          <a:schemeClr val="lt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/>
          <p:nvPr/>
        </p:nvSpPr>
        <p:spPr>
          <a:xfrm>
            <a:off x="1" y="-20538"/>
            <a:ext cx="9143999" cy="7560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47"/>
          <p:cNvPicPr preferRelativeResize="0"/>
          <p:nvPr/>
        </p:nvPicPr>
        <p:blipFill rotWithShape="1">
          <a:blip r:embed="rId2">
            <a:alphaModFix/>
          </a:blip>
          <a:srcRect r="42155"/>
          <a:stretch/>
        </p:blipFill>
        <p:spPr>
          <a:xfrm>
            <a:off x="7703454" y="114672"/>
            <a:ext cx="928010" cy="2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8"/>
          <p:cNvSpPr txBox="1">
            <a:spLocks noGrp="1"/>
          </p:cNvSpPr>
          <p:nvPr>
            <p:ph type="title"/>
          </p:nvPr>
        </p:nvSpPr>
        <p:spPr>
          <a:xfrm>
            <a:off x="521100" y="811641"/>
            <a:ext cx="8058004" cy="54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8"/>
          <p:cNvSpPr txBox="1">
            <a:spLocks noGrp="1"/>
          </p:cNvSpPr>
          <p:nvPr>
            <p:ph type="body" idx="1"/>
          </p:nvPr>
        </p:nvSpPr>
        <p:spPr>
          <a:xfrm>
            <a:off x="521100" y="1407260"/>
            <a:ext cx="2440697" cy="624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8"/>
          <p:cNvSpPr txBox="1">
            <a:spLocks noGrp="1"/>
          </p:cNvSpPr>
          <p:nvPr>
            <p:ph type="body" idx="2"/>
          </p:nvPr>
        </p:nvSpPr>
        <p:spPr>
          <a:xfrm>
            <a:off x="815632" y="2139704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48"/>
          <p:cNvSpPr txBox="1">
            <a:spLocks noGrp="1"/>
          </p:cNvSpPr>
          <p:nvPr>
            <p:ph type="body" idx="3"/>
          </p:nvPr>
        </p:nvSpPr>
        <p:spPr>
          <a:xfrm>
            <a:off x="815632" y="2343766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48"/>
          <p:cNvSpPr/>
          <p:nvPr/>
        </p:nvSpPr>
        <p:spPr>
          <a:xfrm>
            <a:off x="1" y="3057525"/>
            <a:ext cx="1916906" cy="2085975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8"/>
          <p:cNvSpPr txBox="1">
            <a:spLocks noGrp="1"/>
          </p:cNvSpPr>
          <p:nvPr>
            <p:ph type="body" idx="4"/>
          </p:nvPr>
        </p:nvSpPr>
        <p:spPr>
          <a:xfrm>
            <a:off x="815632" y="2561321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48"/>
          <p:cNvSpPr txBox="1">
            <a:spLocks noGrp="1"/>
          </p:cNvSpPr>
          <p:nvPr>
            <p:ph type="body" idx="5"/>
          </p:nvPr>
        </p:nvSpPr>
        <p:spPr>
          <a:xfrm>
            <a:off x="815632" y="2765382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8"/>
          <p:cNvSpPr txBox="1">
            <a:spLocks noGrp="1"/>
          </p:cNvSpPr>
          <p:nvPr>
            <p:ph type="body" idx="6"/>
          </p:nvPr>
        </p:nvSpPr>
        <p:spPr>
          <a:xfrm>
            <a:off x="815632" y="2968120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48"/>
          <p:cNvSpPr/>
          <p:nvPr/>
        </p:nvSpPr>
        <p:spPr>
          <a:xfrm>
            <a:off x="7434318" y="4178819"/>
            <a:ext cx="1709682" cy="96468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1494" y="155723"/>
            <a:ext cx="2403000" cy="35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2">
  <p:cSld name="Thank You 2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/>
          <p:nvPr/>
        </p:nvSpPr>
        <p:spPr>
          <a:xfrm>
            <a:off x="0" y="0"/>
            <a:ext cx="9144000" cy="6966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9"/>
          <p:cNvSpPr txBox="1">
            <a:spLocks noGrp="1"/>
          </p:cNvSpPr>
          <p:nvPr>
            <p:ph type="body" idx="1"/>
          </p:nvPr>
        </p:nvSpPr>
        <p:spPr>
          <a:xfrm>
            <a:off x="521100" y="1407260"/>
            <a:ext cx="2440697" cy="624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49"/>
          <p:cNvSpPr txBox="1">
            <a:spLocks noGrp="1"/>
          </p:cNvSpPr>
          <p:nvPr>
            <p:ph type="body" idx="2"/>
          </p:nvPr>
        </p:nvSpPr>
        <p:spPr>
          <a:xfrm>
            <a:off x="815632" y="2139704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49"/>
          <p:cNvSpPr txBox="1">
            <a:spLocks noGrp="1"/>
          </p:cNvSpPr>
          <p:nvPr>
            <p:ph type="body" idx="3"/>
          </p:nvPr>
        </p:nvSpPr>
        <p:spPr>
          <a:xfrm>
            <a:off x="815632" y="2343766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49"/>
          <p:cNvSpPr txBox="1">
            <a:spLocks noGrp="1"/>
          </p:cNvSpPr>
          <p:nvPr>
            <p:ph type="body" idx="4"/>
          </p:nvPr>
        </p:nvSpPr>
        <p:spPr>
          <a:xfrm>
            <a:off x="815632" y="2561321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49"/>
          <p:cNvSpPr txBox="1">
            <a:spLocks noGrp="1"/>
          </p:cNvSpPr>
          <p:nvPr>
            <p:ph type="body" idx="5"/>
          </p:nvPr>
        </p:nvSpPr>
        <p:spPr>
          <a:xfrm>
            <a:off x="815632" y="2765382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6" name="Google Shape;386;p49"/>
          <p:cNvSpPr txBox="1">
            <a:spLocks noGrp="1"/>
          </p:cNvSpPr>
          <p:nvPr>
            <p:ph type="body" idx="6"/>
          </p:nvPr>
        </p:nvSpPr>
        <p:spPr>
          <a:xfrm>
            <a:off x="815632" y="2968120"/>
            <a:ext cx="2564072" cy="15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­"/>
              <a:defRPr/>
            </a:lvl3pPr>
            <a:lvl4pPr marL="1828800" lvl="3" indent="-3175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7" name="Google Shape;387;p49"/>
          <p:cNvSpPr txBox="1">
            <a:spLocks noGrp="1"/>
          </p:cNvSpPr>
          <p:nvPr>
            <p:ph type="title"/>
          </p:nvPr>
        </p:nvSpPr>
        <p:spPr>
          <a:xfrm>
            <a:off x="521100" y="811641"/>
            <a:ext cx="3906835" cy="54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49"/>
          <p:cNvSpPr>
            <a:spLocks noGrp="1"/>
          </p:cNvSpPr>
          <p:nvPr>
            <p:ph type="pic" idx="7"/>
          </p:nvPr>
        </p:nvSpPr>
        <p:spPr>
          <a:xfrm>
            <a:off x="4569341" y="692288"/>
            <a:ext cx="4576464" cy="445109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389" name="Google Shape;389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1494" y="155723"/>
            <a:ext cx="2403000" cy="35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521495" y="789552"/>
            <a:ext cx="8101013" cy="35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ftr" idx="11"/>
          </p:nvPr>
        </p:nvSpPr>
        <p:spPr>
          <a:xfrm>
            <a:off x="521495" y="4889378"/>
            <a:ext cx="2520082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body" idx="1"/>
          </p:nvPr>
        </p:nvSpPr>
        <p:spPr>
          <a:xfrm>
            <a:off x="521495" y="1275160"/>
            <a:ext cx="8101012" cy="34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­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dt" idx="10"/>
          </p:nvPr>
        </p:nvSpPr>
        <p:spPr>
          <a:xfrm>
            <a:off x="521493" y="113351"/>
            <a:ext cx="252008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/>
          <p:nvPr/>
        </p:nvSpPr>
        <p:spPr>
          <a:xfrm>
            <a:off x="6072608" y="4888643"/>
            <a:ext cx="1793758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AU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CRICOS code 00025B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329">
          <p15:clr>
            <a:srgbClr val="F26B43"/>
          </p15:clr>
        </p15:guide>
        <p15:guide id="4" orient="horz" pos="2981">
          <p15:clr>
            <a:srgbClr val="F26B43"/>
          </p15:clr>
        </p15:guide>
        <p15:guide id="5" orient="horz" pos="497">
          <p15:clr>
            <a:srgbClr val="F26B43"/>
          </p15:clr>
        </p15:guide>
        <p15:guide id="6" pos="2971">
          <p15:clr>
            <a:srgbClr val="F26B43"/>
          </p15:clr>
        </p15:guide>
        <p15:guide id="7" pos="2789">
          <p15:clr>
            <a:srgbClr val="F26B43"/>
          </p15:clr>
        </p15:guide>
        <p15:guide id="8" orient="horz" pos="3083">
          <p15:clr>
            <a:srgbClr val="F26B43"/>
          </p15:clr>
        </p15:guide>
        <p15:guide id="9" pos="5431">
          <p15:clr>
            <a:srgbClr val="F26B43"/>
          </p15:clr>
        </p15:guide>
        <p15:guide id="10" orient="horz" pos="736">
          <p15:clr>
            <a:srgbClr val="F26B43"/>
          </p15:clr>
        </p15:guide>
        <p15:guide id="11" pos="2079">
          <p15:clr>
            <a:srgbClr val="F26B43"/>
          </p15:clr>
        </p15:guide>
        <p15:guide id="12" pos="1927">
          <p15:clr>
            <a:srgbClr val="F26B43"/>
          </p15:clr>
        </p15:guide>
        <p15:guide id="13" pos="3833">
          <p15:clr>
            <a:srgbClr val="F26B43"/>
          </p15:clr>
        </p15:guide>
        <p15:guide id="14" pos="3681">
          <p15:clr>
            <a:srgbClr val="F26B43"/>
          </p15:clr>
        </p15:guide>
        <p15:guide id="15" orient="horz" pos="80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"/>
          <p:cNvSpPr txBox="1">
            <a:spLocks noGrp="1"/>
          </p:cNvSpPr>
          <p:nvPr>
            <p:ph type="title"/>
          </p:nvPr>
        </p:nvSpPr>
        <p:spPr>
          <a:xfrm>
            <a:off x="477100" y="620727"/>
            <a:ext cx="80538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AU" b="1">
                <a:solidFill>
                  <a:srgbClr val="F1C232"/>
                </a:solidFill>
              </a:rPr>
              <a:t>DATA 7901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395" name="Google Shape;395;p1"/>
          <p:cNvSpPr txBox="1">
            <a:spLocks noGrp="1"/>
          </p:cNvSpPr>
          <p:nvPr>
            <p:ph type="body" idx="1"/>
          </p:nvPr>
        </p:nvSpPr>
        <p:spPr>
          <a:xfrm>
            <a:off x="685875" y="3736043"/>
            <a:ext cx="80604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>
                <a:solidFill>
                  <a:srgbClr val="F1C232"/>
                </a:solidFill>
              </a:rPr>
              <a:t>DATA SCIENCE CAPSTONE PROJECT</a:t>
            </a:r>
            <a:endParaRPr>
              <a:solidFill>
                <a:srgbClr val="F1C232"/>
              </a:solidFill>
            </a:endParaRPr>
          </a:p>
        </p:txBody>
      </p:sp>
      <p:pic>
        <p:nvPicPr>
          <p:cNvPr id="396" name="Google Shape;396;p1"/>
          <p:cNvPicPr preferRelativeResize="0"/>
          <p:nvPr/>
        </p:nvPicPr>
        <p:blipFill rotWithShape="1">
          <a:blip r:embed="rId3">
            <a:alphaModFix/>
          </a:blip>
          <a:srcRect t="29788" b="19994"/>
          <a:stretch/>
        </p:blipFill>
        <p:spPr>
          <a:xfrm>
            <a:off x="1122675" y="1110025"/>
            <a:ext cx="6858002" cy="25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"/>
          <p:cNvSpPr txBox="1">
            <a:spLocks noGrp="1"/>
          </p:cNvSpPr>
          <p:nvPr>
            <p:ph type="body" idx="1"/>
          </p:nvPr>
        </p:nvSpPr>
        <p:spPr>
          <a:xfrm>
            <a:off x="685875" y="4070552"/>
            <a:ext cx="8060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-AU" sz="1600"/>
              <a:t>Deep Learning Probabilistic Forecasting </a:t>
            </a:r>
            <a:endParaRPr sz="16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-AU" sz="1600"/>
              <a:t>on Time-Series Sales Data</a:t>
            </a:r>
            <a:endParaRPr sz="1600"/>
          </a:p>
        </p:txBody>
      </p:sp>
      <p:sp>
        <p:nvSpPr>
          <p:cNvPr id="398" name="Google Shape;398;p1"/>
          <p:cNvSpPr txBox="1">
            <a:spLocks noGrp="1"/>
          </p:cNvSpPr>
          <p:nvPr>
            <p:ph type="body" idx="1"/>
          </p:nvPr>
        </p:nvSpPr>
        <p:spPr>
          <a:xfrm>
            <a:off x="685875" y="4812972"/>
            <a:ext cx="8060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1400"/>
              <a:t>Presented by: Beatrice Carrol Que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136288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  <p:sp>
        <p:nvSpPr>
          <p:cNvPr id="404" name="Google Shape;404;p3"/>
          <p:cNvSpPr txBox="1">
            <a:spLocks noGrp="1"/>
          </p:cNvSpPr>
          <p:nvPr>
            <p:ph type="title"/>
          </p:nvPr>
        </p:nvSpPr>
        <p:spPr>
          <a:xfrm>
            <a:off x="362700" y="3657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/>
              <a:buNone/>
            </a:pPr>
            <a:r>
              <a:rPr lang="en-AU" sz="4040" b="1" dirty="0">
                <a:solidFill>
                  <a:srgbClr val="E69138"/>
                </a:solidFill>
              </a:rPr>
              <a:t>Contents</a:t>
            </a:r>
            <a:endParaRPr sz="4040" b="1" dirty="0">
              <a:solidFill>
                <a:srgbClr val="E69138"/>
              </a:solidFill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6024175" y="4943675"/>
            <a:ext cx="620989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9C999F-1249-ED74-1197-3D3F1466BFB7}"/>
              </a:ext>
            </a:extLst>
          </p:cNvPr>
          <p:cNvSpPr/>
          <p:nvPr/>
        </p:nvSpPr>
        <p:spPr>
          <a:xfrm>
            <a:off x="2857542" y="1085448"/>
            <a:ext cx="3112169" cy="4732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b="1" dirty="0"/>
              <a:t>Background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F34B32-664D-1787-4298-E6F46EE8A52C}"/>
              </a:ext>
            </a:extLst>
          </p:cNvPr>
          <p:cNvSpPr/>
          <p:nvPr/>
        </p:nvSpPr>
        <p:spPr>
          <a:xfrm>
            <a:off x="2857542" y="1751196"/>
            <a:ext cx="3112169" cy="4732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b="1" dirty="0"/>
              <a:t>Long Short Term Memory Network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14657C-FDFA-9999-FDC7-14EC042A4EEB}"/>
              </a:ext>
            </a:extLst>
          </p:cNvPr>
          <p:cNvSpPr/>
          <p:nvPr/>
        </p:nvSpPr>
        <p:spPr>
          <a:xfrm>
            <a:off x="2857542" y="2410927"/>
            <a:ext cx="3112169" cy="4732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b="1" dirty="0"/>
              <a:t>LSTM Applied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902BEC-B155-465E-F942-F22B87D33D8B}"/>
              </a:ext>
            </a:extLst>
          </p:cNvPr>
          <p:cNvSpPr/>
          <p:nvPr/>
        </p:nvSpPr>
        <p:spPr>
          <a:xfrm>
            <a:off x="2857542" y="3126467"/>
            <a:ext cx="3112169" cy="4732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b="1" dirty="0"/>
              <a:t>LSTM in Python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36EF42-1334-DCA1-A605-1A847D516805}"/>
              </a:ext>
            </a:extLst>
          </p:cNvPr>
          <p:cNvSpPr/>
          <p:nvPr/>
        </p:nvSpPr>
        <p:spPr>
          <a:xfrm>
            <a:off x="2857542" y="3842008"/>
            <a:ext cx="3112169" cy="4732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b="1" dirty="0"/>
              <a:t>LSTM Evaluation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AF8413-4230-BAEE-FE8A-C8D51D492CAE}"/>
              </a:ext>
            </a:extLst>
          </p:cNvPr>
          <p:cNvSpPr/>
          <p:nvPr/>
        </p:nvSpPr>
        <p:spPr>
          <a:xfrm>
            <a:off x="2857542" y="4486674"/>
            <a:ext cx="3112169" cy="4732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b="1" dirty="0"/>
              <a:t>Recommendations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  <p:sp>
        <p:nvSpPr>
          <p:cNvPr id="404" name="Google Shape;404;p3"/>
          <p:cNvSpPr txBox="1">
            <a:spLocks noGrp="1"/>
          </p:cNvSpPr>
          <p:nvPr>
            <p:ph type="title"/>
          </p:nvPr>
        </p:nvSpPr>
        <p:spPr>
          <a:xfrm>
            <a:off x="362700" y="3657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/>
              <a:buNone/>
            </a:pPr>
            <a:r>
              <a:rPr lang="en-AU" sz="4040" b="1">
                <a:solidFill>
                  <a:srgbClr val="E69138"/>
                </a:solidFill>
              </a:rPr>
              <a:t>M5 Forecasting Competition</a:t>
            </a:r>
            <a:endParaRPr sz="4040" b="1">
              <a:solidFill>
                <a:srgbClr val="E69138"/>
              </a:solidFill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"/>
          <p:cNvSpPr txBox="1"/>
          <p:nvPr/>
        </p:nvSpPr>
        <p:spPr>
          <a:xfrm>
            <a:off x="2773600" y="1295577"/>
            <a:ext cx="3520500" cy="523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Walmart Sales Data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ABAF87-F14F-7AD9-8B0C-FE44E678AD7E}"/>
              </a:ext>
            </a:extLst>
          </p:cNvPr>
          <p:cNvGrpSpPr/>
          <p:nvPr/>
        </p:nvGrpSpPr>
        <p:grpSpPr>
          <a:xfrm>
            <a:off x="865525" y="2156417"/>
            <a:ext cx="2950200" cy="2534375"/>
            <a:chOff x="865525" y="2156417"/>
            <a:chExt cx="2950200" cy="2534375"/>
          </a:xfrm>
        </p:grpSpPr>
        <p:grpSp>
          <p:nvGrpSpPr>
            <p:cNvPr id="405" name="Google Shape;405;p3"/>
            <p:cNvGrpSpPr/>
            <p:nvPr/>
          </p:nvGrpSpPr>
          <p:grpSpPr>
            <a:xfrm>
              <a:off x="865525" y="2156417"/>
              <a:ext cx="2950200" cy="2534375"/>
              <a:chOff x="2973342" y="1716400"/>
              <a:chExt cx="2950200" cy="2534375"/>
            </a:xfrm>
          </p:grpSpPr>
          <p:sp>
            <p:nvSpPr>
              <p:cNvPr id="406" name="Google Shape;406;p3"/>
              <p:cNvSpPr/>
              <p:nvPr/>
            </p:nvSpPr>
            <p:spPr>
              <a:xfrm>
                <a:off x="3848438" y="1716400"/>
                <a:ext cx="12114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094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Walmart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5166342" y="2191750"/>
                <a:ext cx="7572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0D5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WI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2973342" y="2191750"/>
                <a:ext cx="8463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0D5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CA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3212429" y="2668654"/>
                <a:ext cx="7956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Store 1</a:t>
                </a:r>
                <a:endParaRPr sz="14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4074167" y="2681128"/>
                <a:ext cx="7572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Store 2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1" name="Google Shape;411;p3"/>
              <p:cNvCxnSpPr>
                <a:stCxn id="406" idx="2"/>
                <a:endCxn id="407" idx="0"/>
              </p:cNvCxnSpPr>
              <p:nvPr/>
            </p:nvCxnSpPr>
            <p:spPr>
              <a:xfrm rot="-5400000" flipH="1">
                <a:off x="4916138" y="1563100"/>
                <a:ext cx="166800" cy="1090800"/>
              </a:xfrm>
              <a:prstGeom prst="bentConnector3">
                <a:avLst>
                  <a:gd name="adj1" fmla="val 38133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2" name="Google Shape;412;p3"/>
              <p:cNvCxnSpPr>
                <a:stCxn id="408" idx="0"/>
                <a:endCxn id="406" idx="2"/>
              </p:cNvCxnSpPr>
              <p:nvPr/>
            </p:nvCxnSpPr>
            <p:spPr>
              <a:xfrm rot="-5400000">
                <a:off x="3841992" y="1579750"/>
                <a:ext cx="166500" cy="1057500"/>
              </a:xfrm>
              <a:prstGeom prst="bentConnector3">
                <a:avLst>
                  <a:gd name="adj1" fmla="val 57598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13" name="Google Shape;413;p3"/>
              <p:cNvSpPr/>
              <p:nvPr/>
            </p:nvSpPr>
            <p:spPr>
              <a:xfrm>
                <a:off x="4000842" y="2191775"/>
                <a:ext cx="9081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0D5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TX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4929342" y="2667574"/>
                <a:ext cx="7572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Store 3</a:t>
                </a:r>
                <a:endParaRPr sz="14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3991855" y="3066925"/>
                <a:ext cx="9306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Category 2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8" name="Google Shape;418;p3"/>
              <p:cNvCxnSpPr>
                <a:stCxn id="417" idx="2"/>
                <a:endCxn id="419" idx="0"/>
              </p:cNvCxnSpPr>
              <p:nvPr/>
            </p:nvCxnSpPr>
            <p:spPr>
              <a:xfrm rot="-5400000" flipH="1">
                <a:off x="4706455" y="3126325"/>
                <a:ext cx="167100" cy="665700"/>
              </a:xfrm>
              <a:prstGeom prst="bentConnector3">
                <a:avLst>
                  <a:gd name="adj1" fmla="val -60129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0" name="Google Shape;420;p3"/>
              <p:cNvCxnSpPr>
                <a:stCxn id="421" idx="0"/>
                <a:endCxn id="417" idx="2"/>
              </p:cNvCxnSpPr>
              <p:nvPr/>
            </p:nvCxnSpPr>
            <p:spPr>
              <a:xfrm rot="-5400000">
                <a:off x="4037432" y="3122575"/>
                <a:ext cx="166800" cy="672900"/>
              </a:xfrm>
              <a:prstGeom prst="bentConnector3">
                <a:avLst>
                  <a:gd name="adj1" fmla="val 160327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1" name="Google Shape;421;p3"/>
              <p:cNvSpPr/>
              <p:nvPr/>
            </p:nvSpPr>
            <p:spPr>
              <a:xfrm>
                <a:off x="3336912" y="3542425"/>
                <a:ext cx="894939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AU" sz="9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Hobbies_1</a:t>
                </a: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4699680" y="3542725"/>
                <a:ext cx="8463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AU" sz="9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Hobbies_2</a:t>
                </a: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3362304" y="3941725"/>
                <a:ext cx="8463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424 items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4699679" y="3942075"/>
                <a:ext cx="846300" cy="308700"/>
              </a:xfrm>
              <a:prstGeom prst="roundRect">
                <a:avLst>
                  <a:gd name="adj" fmla="val 50000"/>
                </a:avLst>
              </a:prstGeom>
              <a:solidFill>
                <a:srgbClr val="307B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1000" b="0" i="0" u="none" strike="noStrike" cap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149 items</a:t>
                </a: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4" name="Google Shape;424;p3"/>
              <p:cNvCxnSpPr>
                <a:stCxn id="422" idx="0"/>
                <a:endCxn id="421" idx="2"/>
              </p:cNvCxnSpPr>
              <p:nvPr/>
            </p:nvCxnSpPr>
            <p:spPr>
              <a:xfrm rot="10800000">
                <a:off x="3784254" y="3851125"/>
                <a:ext cx="1200" cy="9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5" name="Google Shape;425;p3"/>
              <p:cNvCxnSpPr>
                <a:stCxn id="419" idx="2"/>
                <a:endCxn id="423" idx="0"/>
              </p:cNvCxnSpPr>
              <p:nvPr/>
            </p:nvCxnSpPr>
            <p:spPr>
              <a:xfrm>
                <a:off x="5122830" y="3851425"/>
                <a:ext cx="0" cy="9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6" name="Google Shape;426;p3"/>
              <p:cNvCxnSpPr>
                <a:stCxn id="410" idx="2"/>
                <a:endCxn id="417" idx="0"/>
              </p:cNvCxnSpPr>
              <p:nvPr/>
            </p:nvCxnSpPr>
            <p:spPr>
              <a:xfrm>
                <a:off x="4452767" y="2989828"/>
                <a:ext cx="4388" cy="7709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7" name="Google Shape;427;p3"/>
              <p:cNvCxnSpPr>
                <a:stCxn id="406" idx="2"/>
                <a:endCxn id="413" idx="0"/>
              </p:cNvCxnSpPr>
              <p:nvPr/>
            </p:nvCxnSpPr>
            <p:spPr>
              <a:xfrm>
                <a:off x="4454138" y="2025100"/>
                <a:ext cx="900" cy="1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29" name="Google Shape;429;p3"/>
            <p:cNvSpPr/>
            <p:nvPr/>
          </p:nvSpPr>
          <p:spPr>
            <a:xfrm>
              <a:off x="1877456" y="3500865"/>
              <a:ext cx="930600" cy="308700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Hobbies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5041F0CA-5D46-869E-E3B9-CE957B09CC5E}"/>
                </a:ext>
              </a:extLst>
            </p:cNvPr>
            <p:cNvCxnSpPr>
              <a:cxnSpLocks/>
              <a:stCxn id="413" idx="2"/>
              <a:endCxn id="416" idx="0"/>
            </p:cNvCxnSpPr>
            <p:nvPr/>
          </p:nvCxnSpPr>
          <p:spPr>
            <a:xfrm rot="16200000" flipH="1">
              <a:off x="2690051" y="2597516"/>
              <a:ext cx="167099" cy="85305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A9997380-D8AD-D98A-30EF-527F7E06A0A0}"/>
                </a:ext>
              </a:extLst>
            </p:cNvPr>
            <p:cNvCxnSpPr>
              <a:cxnSpLocks/>
              <a:stCxn id="409" idx="0"/>
              <a:endCxn id="413" idx="2"/>
            </p:cNvCxnSpPr>
            <p:nvPr/>
          </p:nvCxnSpPr>
          <p:spPr>
            <a:xfrm rot="5400000" flipH="1" flipV="1">
              <a:off x="1840654" y="2602251"/>
              <a:ext cx="168179" cy="844663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5D56A0-A0A9-E6AE-214F-AA13BC640476}"/>
                </a:ext>
              </a:extLst>
            </p:cNvPr>
            <p:cNvCxnSpPr>
              <a:cxnSpLocks/>
              <a:stCxn id="413" idx="2"/>
              <a:endCxn id="410" idx="0"/>
            </p:cNvCxnSpPr>
            <p:nvPr/>
          </p:nvCxnSpPr>
          <p:spPr>
            <a:xfrm flipH="1">
              <a:off x="2344950" y="2940492"/>
              <a:ext cx="2125" cy="1806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764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  <p:sp>
        <p:nvSpPr>
          <p:cNvPr id="404" name="Google Shape;404;p3"/>
          <p:cNvSpPr txBox="1">
            <a:spLocks noGrp="1"/>
          </p:cNvSpPr>
          <p:nvPr>
            <p:ph type="title"/>
          </p:nvPr>
        </p:nvSpPr>
        <p:spPr>
          <a:xfrm>
            <a:off x="362700" y="3657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/>
              <a:buNone/>
            </a:pPr>
            <a:r>
              <a:rPr lang="en-AU" sz="4040" b="1">
                <a:solidFill>
                  <a:srgbClr val="E69138"/>
                </a:solidFill>
              </a:rPr>
              <a:t>M5 Forecasting Competition</a:t>
            </a:r>
            <a:endParaRPr sz="4040" b="1">
              <a:solidFill>
                <a:srgbClr val="E69138"/>
              </a:solidFill>
            </a:endParaRPr>
          </a:p>
        </p:txBody>
      </p:sp>
      <p:grpSp>
        <p:nvGrpSpPr>
          <p:cNvPr id="405" name="Google Shape;405;p3"/>
          <p:cNvGrpSpPr/>
          <p:nvPr/>
        </p:nvGrpSpPr>
        <p:grpSpPr>
          <a:xfrm>
            <a:off x="865525" y="2156417"/>
            <a:ext cx="2950200" cy="2534375"/>
            <a:chOff x="2973342" y="1716400"/>
            <a:chExt cx="2950200" cy="2534375"/>
          </a:xfrm>
        </p:grpSpPr>
        <p:sp>
          <p:nvSpPr>
            <p:cNvPr id="406" name="Google Shape;406;p3"/>
            <p:cNvSpPr/>
            <p:nvPr/>
          </p:nvSpPr>
          <p:spPr>
            <a:xfrm>
              <a:off x="3848438" y="1716400"/>
              <a:ext cx="1211400" cy="308700"/>
            </a:xfrm>
            <a:prstGeom prst="round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Walmart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166342" y="2191750"/>
              <a:ext cx="757200" cy="308700"/>
            </a:xfrm>
            <a:prstGeom prst="roundRect">
              <a:avLst>
                <a:gd name="adj" fmla="val 5000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WI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2973342" y="2191750"/>
              <a:ext cx="846300" cy="308700"/>
            </a:xfrm>
            <a:prstGeom prst="roundRect">
              <a:avLst>
                <a:gd name="adj" fmla="val 5000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3212429" y="2668654"/>
              <a:ext cx="795600" cy="308700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Store 1</a:t>
              </a:r>
              <a:endParaRPr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4074167" y="2681128"/>
              <a:ext cx="757200" cy="308700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Store 2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1" name="Google Shape;411;p3"/>
            <p:cNvCxnSpPr>
              <a:stCxn id="406" idx="2"/>
              <a:endCxn id="407" idx="0"/>
            </p:cNvCxnSpPr>
            <p:nvPr/>
          </p:nvCxnSpPr>
          <p:spPr>
            <a:xfrm rot="-5400000" flipH="1">
              <a:off x="4916138" y="1563100"/>
              <a:ext cx="166800" cy="1090800"/>
            </a:xfrm>
            <a:prstGeom prst="bentConnector3">
              <a:avLst>
                <a:gd name="adj1" fmla="val 38133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2" name="Google Shape;412;p3"/>
            <p:cNvCxnSpPr>
              <a:stCxn id="408" idx="0"/>
              <a:endCxn id="406" idx="2"/>
            </p:cNvCxnSpPr>
            <p:nvPr/>
          </p:nvCxnSpPr>
          <p:spPr>
            <a:xfrm rot="-5400000">
              <a:off x="3841992" y="1579750"/>
              <a:ext cx="166500" cy="1057500"/>
            </a:xfrm>
            <a:prstGeom prst="bentConnector3">
              <a:avLst>
                <a:gd name="adj1" fmla="val 57598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13" name="Google Shape;413;p3"/>
            <p:cNvSpPr/>
            <p:nvPr/>
          </p:nvSpPr>
          <p:spPr>
            <a:xfrm>
              <a:off x="4000842" y="2191775"/>
              <a:ext cx="908100" cy="308700"/>
            </a:xfrm>
            <a:prstGeom prst="roundRect">
              <a:avLst>
                <a:gd name="adj" fmla="val 5000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TX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4929342" y="2667574"/>
              <a:ext cx="757200" cy="308700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Store 3</a:t>
              </a:r>
              <a:endParaRPr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3991855" y="3066925"/>
              <a:ext cx="930600" cy="308700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Category 2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8" name="Google Shape;418;p3"/>
            <p:cNvCxnSpPr>
              <a:stCxn id="417" idx="2"/>
              <a:endCxn id="419" idx="0"/>
            </p:cNvCxnSpPr>
            <p:nvPr/>
          </p:nvCxnSpPr>
          <p:spPr>
            <a:xfrm rot="-5400000" flipH="1">
              <a:off x="4706455" y="3126325"/>
              <a:ext cx="167100" cy="665700"/>
            </a:xfrm>
            <a:prstGeom prst="bentConnector3">
              <a:avLst>
                <a:gd name="adj1" fmla="val -60129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0" name="Google Shape;420;p3"/>
            <p:cNvCxnSpPr>
              <a:stCxn id="421" idx="0"/>
              <a:endCxn id="417" idx="2"/>
            </p:cNvCxnSpPr>
            <p:nvPr/>
          </p:nvCxnSpPr>
          <p:spPr>
            <a:xfrm rot="-5400000">
              <a:off x="4037432" y="3122575"/>
              <a:ext cx="166800" cy="672900"/>
            </a:xfrm>
            <a:prstGeom prst="bentConnector3">
              <a:avLst>
                <a:gd name="adj1" fmla="val 16032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1" name="Google Shape;421;p3"/>
            <p:cNvSpPr/>
            <p:nvPr/>
          </p:nvSpPr>
          <p:spPr>
            <a:xfrm>
              <a:off x="3336912" y="3542425"/>
              <a:ext cx="894939" cy="308700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AU" sz="900" b="1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Hobbies_1</a:t>
              </a:r>
              <a:endParaRPr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4699680" y="3542725"/>
              <a:ext cx="846300" cy="308700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AU" sz="900" b="1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Hobbies_2</a:t>
              </a:r>
              <a:endParaRPr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3362304" y="3941725"/>
              <a:ext cx="846300" cy="308700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424 items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4699679" y="3942075"/>
              <a:ext cx="846300" cy="308700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10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149 items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4" name="Google Shape;424;p3"/>
            <p:cNvCxnSpPr>
              <a:stCxn id="422" idx="0"/>
              <a:endCxn id="421" idx="2"/>
            </p:cNvCxnSpPr>
            <p:nvPr/>
          </p:nvCxnSpPr>
          <p:spPr>
            <a:xfrm rot="10800000">
              <a:off x="3784254" y="3851125"/>
              <a:ext cx="1200" cy="9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5" name="Google Shape;425;p3"/>
            <p:cNvCxnSpPr>
              <a:stCxn id="419" idx="2"/>
              <a:endCxn id="423" idx="0"/>
            </p:cNvCxnSpPr>
            <p:nvPr/>
          </p:nvCxnSpPr>
          <p:spPr>
            <a:xfrm>
              <a:off x="5122830" y="3851425"/>
              <a:ext cx="0" cy="9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6" name="Google Shape;426;p3"/>
            <p:cNvCxnSpPr>
              <a:stCxn id="410" idx="2"/>
              <a:endCxn id="417" idx="0"/>
            </p:cNvCxnSpPr>
            <p:nvPr/>
          </p:nvCxnSpPr>
          <p:spPr>
            <a:xfrm>
              <a:off x="4452767" y="2989828"/>
              <a:ext cx="4388" cy="7709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7" name="Google Shape;427;p3"/>
            <p:cNvCxnSpPr>
              <a:stCxn id="406" idx="2"/>
              <a:endCxn id="413" idx="0"/>
            </p:cNvCxnSpPr>
            <p:nvPr/>
          </p:nvCxnSpPr>
          <p:spPr>
            <a:xfrm>
              <a:off x="4454138" y="2025100"/>
              <a:ext cx="900" cy="16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28" name="Google Shape;428;p3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"/>
          <p:cNvSpPr/>
          <p:nvPr/>
        </p:nvSpPr>
        <p:spPr>
          <a:xfrm>
            <a:off x="1877456" y="3500865"/>
            <a:ext cx="930600" cy="308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10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Hobbies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"/>
          <p:cNvSpPr txBox="1"/>
          <p:nvPr/>
        </p:nvSpPr>
        <p:spPr>
          <a:xfrm>
            <a:off x="2773600" y="1295577"/>
            <a:ext cx="3520500" cy="523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Walmart Sales Data</a:t>
            </a:r>
            <a:endParaRPr dirty="0"/>
          </a:p>
        </p:txBody>
      </p:sp>
      <p:graphicFrame>
        <p:nvGraphicFramePr>
          <p:cNvPr id="431" name="Google Shape;431;p3"/>
          <p:cNvGraphicFramePr/>
          <p:nvPr/>
        </p:nvGraphicFramePr>
        <p:xfrm>
          <a:off x="4350425" y="2397602"/>
          <a:ext cx="3928050" cy="1584840"/>
        </p:xfrm>
        <a:graphic>
          <a:graphicData uri="http://schemas.openxmlformats.org/drawingml/2006/table">
            <a:tbl>
              <a:tblPr>
                <a:noFill/>
                <a:tableStyleId>{0FAF419D-87A1-492B-982B-8FB4123AD956}</a:tableStyleId>
              </a:tblPr>
              <a:tblGrid>
                <a:gridCol w="196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b="1" dirty="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All Data:</a:t>
                      </a:r>
                      <a:endParaRPr b="1" dirty="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b="1" dirty="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1,969 days</a:t>
                      </a:r>
                      <a:endParaRPr b="1" dirty="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/>
                        <a:t>Training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dirty="0"/>
                        <a:t>1,913 days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dirty="0"/>
                        <a:t>Validation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/>
                        <a:t>28 days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dirty="0"/>
                        <a:t>Test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dirty="0"/>
                        <a:t>28 days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041F0CA-5D46-869E-E3B9-CE957B09CC5E}"/>
              </a:ext>
            </a:extLst>
          </p:cNvPr>
          <p:cNvCxnSpPr>
            <a:cxnSpLocks/>
            <a:stCxn id="413" idx="2"/>
            <a:endCxn id="416" idx="0"/>
          </p:cNvCxnSpPr>
          <p:nvPr/>
        </p:nvCxnSpPr>
        <p:spPr>
          <a:xfrm rot="16200000" flipH="1">
            <a:off x="2690051" y="2597516"/>
            <a:ext cx="167099" cy="85305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9997380-D8AD-D98A-30EF-527F7E06A0A0}"/>
              </a:ext>
            </a:extLst>
          </p:cNvPr>
          <p:cNvCxnSpPr>
            <a:cxnSpLocks/>
            <a:stCxn id="409" idx="0"/>
            <a:endCxn id="413" idx="2"/>
          </p:cNvCxnSpPr>
          <p:nvPr/>
        </p:nvCxnSpPr>
        <p:spPr>
          <a:xfrm rot="5400000" flipH="1" flipV="1">
            <a:off x="1840654" y="2602251"/>
            <a:ext cx="168179" cy="84466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5D56A0-A0A9-E6AE-214F-AA13BC640476}"/>
              </a:ext>
            </a:extLst>
          </p:cNvPr>
          <p:cNvCxnSpPr>
            <a:cxnSpLocks/>
            <a:stCxn id="413" idx="2"/>
            <a:endCxn id="410" idx="0"/>
          </p:cNvCxnSpPr>
          <p:nvPr/>
        </p:nvCxnSpPr>
        <p:spPr>
          <a:xfrm flipH="1">
            <a:off x="2344950" y="2940492"/>
            <a:ext cx="2125" cy="180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09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  <p:sp>
        <p:nvSpPr>
          <p:cNvPr id="404" name="Google Shape;404;p3"/>
          <p:cNvSpPr txBox="1">
            <a:spLocks noGrp="1"/>
          </p:cNvSpPr>
          <p:nvPr>
            <p:ph type="title"/>
          </p:nvPr>
        </p:nvSpPr>
        <p:spPr>
          <a:xfrm>
            <a:off x="362700" y="3657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/>
              <a:buNone/>
            </a:pPr>
            <a:r>
              <a:rPr lang="en-AU" sz="4040" b="1">
                <a:solidFill>
                  <a:srgbClr val="E69138"/>
                </a:solidFill>
              </a:rPr>
              <a:t>M5 Forecasting Competition</a:t>
            </a:r>
            <a:endParaRPr sz="4040" b="1">
              <a:solidFill>
                <a:srgbClr val="E69138"/>
              </a:solidFill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"/>
          <p:cNvSpPr txBox="1"/>
          <p:nvPr/>
        </p:nvSpPr>
        <p:spPr>
          <a:xfrm>
            <a:off x="2773600" y="1295577"/>
            <a:ext cx="3520500" cy="523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Data</a:t>
            </a:r>
            <a:endParaRPr dirty="0"/>
          </a:p>
        </p:txBody>
      </p:sp>
      <p:sp>
        <p:nvSpPr>
          <p:cNvPr id="2" name="Google Shape;466;p7">
            <a:extLst>
              <a:ext uri="{FF2B5EF4-FFF2-40B4-BE49-F238E27FC236}">
                <a16:creationId xmlns:a16="http://schemas.microsoft.com/office/drawing/2014/main" id="{2871840B-1D2E-1D88-D571-70165B04B33E}"/>
              </a:ext>
            </a:extLst>
          </p:cNvPr>
          <p:cNvSpPr/>
          <p:nvPr/>
        </p:nvSpPr>
        <p:spPr>
          <a:xfrm>
            <a:off x="2833039" y="2098259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Date</a:t>
            </a:r>
            <a:endParaRPr sz="2000" dirty="0"/>
          </a:p>
        </p:txBody>
      </p:sp>
      <p:sp>
        <p:nvSpPr>
          <p:cNvPr id="3" name="Google Shape;466;p7">
            <a:extLst>
              <a:ext uri="{FF2B5EF4-FFF2-40B4-BE49-F238E27FC236}">
                <a16:creationId xmlns:a16="http://schemas.microsoft.com/office/drawing/2014/main" id="{6EBF35FE-3F9F-967F-BE92-D53CF9828683}"/>
              </a:ext>
            </a:extLst>
          </p:cNvPr>
          <p:cNvSpPr/>
          <p:nvPr/>
        </p:nvSpPr>
        <p:spPr>
          <a:xfrm>
            <a:off x="2833039" y="2677938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Weekday</a:t>
            </a:r>
            <a:endParaRPr sz="2000" dirty="0"/>
          </a:p>
        </p:txBody>
      </p:sp>
      <p:sp>
        <p:nvSpPr>
          <p:cNvPr id="4" name="Google Shape;466;p7">
            <a:extLst>
              <a:ext uri="{FF2B5EF4-FFF2-40B4-BE49-F238E27FC236}">
                <a16:creationId xmlns:a16="http://schemas.microsoft.com/office/drawing/2014/main" id="{34E61ABE-D650-4916-BC97-005947F76D61}"/>
              </a:ext>
            </a:extLst>
          </p:cNvPr>
          <p:cNvSpPr/>
          <p:nvPr/>
        </p:nvSpPr>
        <p:spPr>
          <a:xfrm>
            <a:off x="2833039" y="3276954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Month</a:t>
            </a:r>
            <a:endParaRPr sz="200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8073154A-C3AF-415E-42AF-3921C971AA97}"/>
              </a:ext>
            </a:extLst>
          </p:cNvPr>
          <p:cNvSpPr/>
          <p:nvPr/>
        </p:nvSpPr>
        <p:spPr>
          <a:xfrm>
            <a:off x="2833039" y="3875970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Year</a:t>
            </a:r>
            <a:endParaRPr sz="2000" dirty="0"/>
          </a:p>
        </p:txBody>
      </p:sp>
      <p:sp>
        <p:nvSpPr>
          <p:cNvPr id="6" name="Google Shape;466;p7">
            <a:extLst>
              <a:ext uri="{FF2B5EF4-FFF2-40B4-BE49-F238E27FC236}">
                <a16:creationId xmlns:a16="http://schemas.microsoft.com/office/drawing/2014/main" id="{6C26F4E9-57AC-46FB-1B50-678FC0ECA67D}"/>
              </a:ext>
            </a:extLst>
          </p:cNvPr>
          <p:cNvSpPr/>
          <p:nvPr/>
        </p:nvSpPr>
        <p:spPr>
          <a:xfrm>
            <a:off x="4649347" y="2098259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Events</a:t>
            </a:r>
            <a:endParaRPr sz="2000" dirty="0"/>
          </a:p>
        </p:txBody>
      </p:sp>
      <p:sp>
        <p:nvSpPr>
          <p:cNvPr id="7" name="Google Shape;466;p7">
            <a:extLst>
              <a:ext uri="{FF2B5EF4-FFF2-40B4-BE49-F238E27FC236}">
                <a16:creationId xmlns:a16="http://schemas.microsoft.com/office/drawing/2014/main" id="{A7DE9418-8512-E500-6D5F-38A7E180A63B}"/>
              </a:ext>
            </a:extLst>
          </p:cNvPr>
          <p:cNvSpPr/>
          <p:nvPr/>
        </p:nvSpPr>
        <p:spPr>
          <a:xfrm>
            <a:off x="4649347" y="2677938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Event Type</a:t>
            </a:r>
            <a:endParaRPr sz="2000" dirty="0"/>
          </a:p>
        </p:txBody>
      </p:sp>
      <p:sp>
        <p:nvSpPr>
          <p:cNvPr id="9" name="Google Shape;466;p7">
            <a:extLst>
              <a:ext uri="{FF2B5EF4-FFF2-40B4-BE49-F238E27FC236}">
                <a16:creationId xmlns:a16="http://schemas.microsoft.com/office/drawing/2014/main" id="{2AC51D58-1750-8808-0316-1D3106840BC7}"/>
              </a:ext>
            </a:extLst>
          </p:cNvPr>
          <p:cNvSpPr/>
          <p:nvPr/>
        </p:nvSpPr>
        <p:spPr>
          <a:xfrm>
            <a:off x="4649347" y="3276954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SNAP</a:t>
            </a:r>
            <a:endParaRPr sz="2000" dirty="0"/>
          </a:p>
        </p:txBody>
      </p:sp>
      <p:sp>
        <p:nvSpPr>
          <p:cNvPr id="12" name="Google Shape;466;p7">
            <a:extLst>
              <a:ext uri="{FF2B5EF4-FFF2-40B4-BE49-F238E27FC236}">
                <a16:creationId xmlns:a16="http://schemas.microsoft.com/office/drawing/2014/main" id="{1D076737-093E-741C-7614-194A22E6129B}"/>
              </a:ext>
            </a:extLst>
          </p:cNvPr>
          <p:cNvSpPr/>
          <p:nvPr/>
        </p:nvSpPr>
        <p:spPr>
          <a:xfrm>
            <a:off x="4649347" y="3870940"/>
            <a:ext cx="1558977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Item Prices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6BED2A-39B8-E860-EA61-01EB2E77CB2E}"/>
              </a:ext>
            </a:extLst>
          </p:cNvPr>
          <p:cNvSpPr txBox="1"/>
          <p:nvPr/>
        </p:nvSpPr>
        <p:spPr>
          <a:xfrm>
            <a:off x="2525842" y="4777716"/>
            <a:ext cx="6768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050" dirty="0"/>
              <a:t>** Snap days – days when stores accept food stamps for purchases</a:t>
            </a:r>
          </a:p>
        </p:txBody>
      </p:sp>
    </p:spTree>
    <p:extLst>
      <p:ext uri="{BB962C8B-B14F-4D97-AF65-F5344CB8AC3E}">
        <p14:creationId xmlns:p14="http://schemas.microsoft.com/office/powerpoint/2010/main" val="92886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  <p:sp>
        <p:nvSpPr>
          <p:cNvPr id="437" name="Google Shape;437;p4"/>
          <p:cNvSpPr txBox="1">
            <a:spLocks noGrp="1"/>
          </p:cNvSpPr>
          <p:nvPr>
            <p:ph type="title"/>
          </p:nvPr>
        </p:nvSpPr>
        <p:spPr>
          <a:xfrm>
            <a:off x="362700" y="3657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n-AU" sz="4040" b="1">
                <a:solidFill>
                  <a:srgbClr val="E69138"/>
                </a:solidFill>
              </a:rPr>
              <a:t>M5 Forecasting Competition</a:t>
            </a:r>
            <a:endParaRPr sz="4040" b="1">
              <a:solidFill>
                <a:srgbClr val="E69138"/>
              </a:solidFill>
            </a:endParaRPr>
          </a:p>
        </p:txBody>
      </p:sp>
      <p:sp>
        <p:nvSpPr>
          <p:cNvPr id="438" name="Google Shape;438;p4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"/>
          <p:cNvSpPr/>
          <p:nvPr/>
        </p:nvSpPr>
        <p:spPr>
          <a:xfrm>
            <a:off x="669923" y="1577886"/>
            <a:ext cx="1659713" cy="62739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B1A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Accuracy Competition</a:t>
            </a:r>
            <a:endParaRPr/>
          </a:p>
        </p:txBody>
      </p:sp>
      <p:sp>
        <p:nvSpPr>
          <p:cNvPr id="440" name="Google Shape;440;p4"/>
          <p:cNvSpPr/>
          <p:nvPr/>
        </p:nvSpPr>
        <p:spPr>
          <a:xfrm>
            <a:off x="4577008" y="1577886"/>
            <a:ext cx="1659713" cy="62739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B1A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Uncertainty Competition</a:t>
            </a:r>
            <a:endParaRPr dirty="0"/>
          </a:p>
        </p:txBody>
      </p:sp>
      <p:sp>
        <p:nvSpPr>
          <p:cNvPr id="441" name="Google Shape;441;p4"/>
          <p:cNvSpPr/>
          <p:nvPr/>
        </p:nvSpPr>
        <p:spPr>
          <a:xfrm>
            <a:off x="2329636" y="1577887"/>
            <a:ext cx="1659713" cy="627398"/>
          </a:xfrm>
          <a:prstGeom prst="rect">
            <a:avLst/>
          </a:prstGeom>
          <a:solidFill>
            <a:srgbClr val="DCC8EE"/>
          </a:solidFill>
          <a:ln w="25400" cap="flat" cmpd="sng">
            <a:solidFill>
              <a:srgbClr val="3B1A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Estimate</a:t>
            </a:r>
            <a:endParaRPr/>
          </a:p>
        </p:txBody>
      </p:sp>
      <p:sp>
        <p:nvSpPr>
          <p:cNvPr id="442" name="Google Shape;442;p4"/>
          <p:cNvSpPr/>
          <p:nvPr/>
        </p:nvSpPr>
        <p:spPr>
          <a:xfrm>
            <a:off x="6243644" y="1577887"/>
            <a:ext cx="1659713" cy="627398"/>
          </a:xfrm>
          <a:prstGeom prst="rect">
            <a:avLst/>
          </a:prstGeom>
          <a:solidFill>
            <a:srgbClr val="DCC8EE"/>
          </a:solidFill>
          <a:ln w="25400" cap="flat" cmpd="sng">
            <a:solidFill>
              <a:srgbClr val="3B1A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Probabilistic</a:t>
            </a:r>
            <a:endParaRPr/>
          </a:p>
        </p:txBody>
      </p:sp>
      <p:pic>
        <p:nvPicPr>
          <p:cNvPr id="443" name="Google Shape;4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292" y="2401785"/>
            <a:ext cx="2894687" cy="180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" descr="https://miro.medium.com/max/1400/0*ujXZGbBHYTmhKtG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1" y="2365082"/>
            <a:ext cx="3073316" cy="190106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"/>
          <p:cNvSpPr/>
          <p:nvPr/>
        </p:nvSpPr>
        <p:spPr>
          <a:xfrm>
            <a:off x="4231037" y="1340603"/>
            <a:ext cx="4613603" cy="3378631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"/>
          <p:cNvSpPr txBox="1"/>
          <p:nvPr/>
        </p:nvSpPr>
        <p:spPr>
          <a:xfrm>
            <a:off x="7812191" y="3078275"/>
            <a:ext cx="94128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Quantiles</a:t>
            </a:r>
            <a:endParaRPr/>
          </a:p>
        </p:txBody>
      </p:sp>
      <p:sp>
        <p:nvSpPr>
          <p:cNvPr id="447" name="Google Shape;447;p4"/>
          <p:cNvSpPr/>
          <p:nvPr/>
        </p:nvSpPr>
        <p:spPr>
          <a:xfrm>
            <a:off x="7554151" y="2774197"/>
            <a:ext cx="258040" cy="1131376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" grpId="0" animBg="1"/>
      <p:bldP spid="440" grpId="0" animBg="1"/>
      <p:bldP spid="441" grpId="0" animBg="1"/>
      <p:bldP spid="442" grpId="0" animBg="1"/>
      <p:bldP spid="446" grpId="0"/>
      <p:bldP spid="4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11EB65-D962-CDEE-C8B9-F25D2883F9ED}"/>
              </a:ext>
            </a:extLst>
          </p:cNvPr>
          <p:cNvSpPr/>
          <p:nvPr/>
        </p:nvSpPr>
        <p:spPr>
          <a:xfrm>
            <a:off x="5742351" y="1482333"/>
            <a:ext cx="2789761" cy="14782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9" name="Google Shape;479;g163e4d1cdf8_0_6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Model Evaluation</a:t>
            </a:r>
            <a:endParaRPr sz="3800" b="1" dirty="0">
              <a:solidFill>
                <a:srgbClr val="E6913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5EA8F-D153-187A-8871-8BF35D5AE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836"/>
            <a:ext cx="5416526" cy="708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D72DC-7EC6-99A7-86FB-C14A7F447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022394"/>
            <a:ext cx="2985411" cy="771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C17736-BC89-213E-6DC8-A292D3117E8D}"/>
              </a:ext>
            </a:extLst>
          </p:cNvPr>
          <p:cNvSpPr txBox="1"/>
          <p:nvPr/>
        </p:nvSpPr>
        <p:spPr>
          <a:xfrm>
            <a:off x="5742351" y="1482333"/>
            <a:ext cx="27897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u="sng" dirty="0"/>
              <a:t>Numerator:</a:t>
            </a:r>
          </a:p>
          <a:p>
            <a:r>
              <a:rPr lang="en-PH" i="1" dirty="0"/>
              <a:t>If predicted &lt; actual: </a:t>
            </a:r>
          </a:p>
          <a:p>
            <a:r>
              <a:rPr lang="en-PH" dirty="0"/>
              <a:t>(actual-predicted) * quantile</a:t>
            </a:r>
          </a:p>
          <a:p>
            <a:endParaRPr lang="en-PH" dirty="0"/>
          </a:p>
          <a:p>
            <a:r>
              <a:rPr lang="en-PH" i="1" dirty="0"/>
              <a:t>If actual &lt; predicted: </a:t>
            </a:r>
          </a:p>
          <a:p>
            <a:r>
              <a:rPr lang="en-PH" dirty="0"/>
              <a:t>(predicted – actual) * (1-quantile)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941C0D-F89A-7B47-AAD8-64BEA3F87D98}"/>
              </a:ext>
            </a:extLst>
          </p:cNvPr>
          <p:cNvCxnSpPr>
            <a:cxnSpLocks/>
          </p:cNvCxnSpPr>
          <p:nvPr/>
        </p:nvCxnSpPr>
        <p:spPr>
          <a:xfrm>
            <a:off x="5312804" y="1766971"/>
            <a:ext cx="429547" cy="993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800AEFC-BF2B-7C4F-58F8-25470354B312}"/>
              </a:ext>
            </a:extLst>
          </p:cNvPr>
          <p:cNvSpPr/>
          <p:nvPr/>
        </p:nvSpPr>
        <p:spPr>
          <a:xfrm>
            <a:off x="3629988" y="3210457"/>
            <a:ext cx="278976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03521-D726-9804-BDD5-B8A456678E56}"/>
              </a:ext>
            </a:extLst>
          </p:cNvPr>
          <p:cNvSpPr txBox="1"/>
          <p:nvPr/>
        </p:nvSpPr>
        <p:spPr>
          <a:xfrm>
            <a:off x="3814201" y="3210457"/>
            <a:ext cx="2789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Average SPL of 9 quantiles * weight for the series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3258F7-DB55-EB1C-CBD5-A1C7ECBD62F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765685" y="3472067"/>
            <a:ext cx="8643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9377F3-3EA9-FD4D-FB70-3A4BB98DAA0E}"/>
              </a:ext>
            </a:extLst>
          </p:cNvPr>
          <p:cNvSpPr txBox="1"/>
          <p:nvPr/>
        </p:nvSpPr>
        <p:spPr>
          <a:xfrm>
            <a:off x="1730791" y="4128340"/>
            <a:ext cx="568241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Lower WSPL = better results</a:t>
            </a:r>
          </a:p>
        </p:txBody>
      </p:sp>
    </p:spTree>
    <p:extLst>
      <p:ext uri="{BB962C8B-B14F-4D97-AF65-F5344CB8AC3E}">
        <p14:creationId xmlns:p14="http://schemas.microsoft.com/office/powerpoint/2010/main" val="396122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  <p:sp>
        <p:nvSpPr>
          <p:cNvPr id="453" name="Google Shape;453;p8"/>
          <p:cNvSpPr txBox="1">
            <a:spLocks noGrp="1"/>
          </p:cNvSpPr>
          <p:nvPr>
            <p:ph type="title"/>
          </p:nvPr>
        </p:nvSpPr>
        <p:spPr>
          <a:xfrm>
            <a:off x="362700" y="691527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/>
              <a:buNone/>
            </a:pPr>
            <a:r>
              <a:rPr lang="en-AU" sz="4040" b="1">
                <a:solidFill>
                  <a:srgbClr val="E69138"/>
                </a:solidFill>
              </a:rPr>
              <a:t>Probabilistic Forecasting</a:t>
            </a:r>
            <a:endParaRPr sz="4040" b="1">
              <a:solidFill>
                <a:srgbClr val="E6913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/>
              <a:buNone/>
            </a:pPr>
            <a:r>
              <a:rPr lang="en-AU" sz="4040" b="1">
                <a:solidFill>
                  <a:srgbClr val="E69138"/>
                </a:solidFill>
              </a:rPr>
              <a:t>Benchmark:</a:t>
            </a:r>
            <a:endParaRPr sz="4040" b="1">
              <a:solidFill>
                <a:srgbClr val="E69138"/>
              </a:solidFill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8" descr="https://miro.medium.com/max/1400/0*ujXZGbBHYTmhKt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3651" y="550544"/>
            <a:ext cx="1828799" cy="113124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8"/>
          <p:cNvSpPr txBox="1"/>
          <p:nvPr/>
        </p:nvSpPr>
        <p:spPr>
          <a:xfrm>
            <a:off x="611175" y="2079350"/>
            <a:ext cx="3665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500" b="1"/>
              <a:t>ARIMA (Bottom-Up)</a:t>
            </a:r>
            <a:endParaRPr sz="4500" b="1"/>
          </a:p>
        </p:txBody>
      </p:sp>
      <p:pic>
        <p:nvPicPr>
          <p:cNvPr id="457" name="Google Shape;45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850" y="1752315"/>
            <a:ext cx="2001501" cy="3086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EDC706FC-5895-23F4-5E89-B4CEA344A8F7}"/>
              </a:ext>
            </a:extLst>
          </p:cNvPr>
          <p:cNvSpPr/>
          <p:nvPr/>
        </p:nvSpPr>
        <p:spPr>
          <a:xfrm>
            <a:off x="4469566" y="2388539"/>
            <a:ext cx="4482284" cy="20870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7DD16A-9BDE-C709-9E0F-70F4889D8591}"/>
              </a:ext>
            </a:extLst>
          </p:cNvPr>
          <p:cNvSpPr/>
          <p:nvPr/>
        </p:nvSpPr>
        <p:spPr>
          <a:xfrm>
            <a:off x="113883" y="2399228"/>
            <a:ext cx="3286125" cy="20870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2" name="Google Shape;462;p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9</a:t>
            </a:fld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>
                <a:solidFill>
                  <a:srgbClr val="E69138"/>
                </a:solidFill>
              </a:rPr>
              <a:t>Long Short Term Memory Network</a:t>
            </a:r>
            <a:endParaRPr sz="3800" b="1">
              <a:solidFill>
                <a:srgbClr val="E6913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>
                <a:solidFill>
                  <a:srgbClr val="E69138"/>
                </a:solidFill>
              </a:rPr>
              <a:t>(LSTM)</a:t>
            </a:r>
            <a:endParaRPr sz="3800" b="1">
              <a:solidFill>
                <a:srgbClr val="E69138"/>
              </a:solidFill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2481470" y="3584101"/>
            <a:ext cx="798249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Predicted</a:t>
            </a:r>
            <a:endParaRPr sz="1050" dirty="0"/>
          </a:p>
        </p:txBody>
      </p:sp>
      <p:sp>
        <p:nvSpPr>
          <p:cNvPr id="466" name="Google Shape;466;p7"/>
          <p:cNvSpPr/>
          <p:nvPr/>
        </p:nvSpPr>
        <p:spPr>
          <a:xfrm>
            <a:off x="192150" y="358410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</a:t>
            </a:r>
            <a:endParaRPr sz="1050" dirty="0"/>
          </a:p>
        </p:txBody>
      </p:sp>
      <p:sp>
        <p:nvSpPr>
          <p:cNvPr id="467" name="Google Shape;467;p7"/>
          <p:cNvSpPr/>
          <p:nvPr/>
        </p:nvSpPr>
        <p:spPr>
          <a:xfrm>
            <a:off x="1206832" y="3319849"/>
            <a:ext cx="916918" cy="923400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Hidden State</a:t>
            </a:r>
            <a:endParaRPr/>
          </a:p>
        </p:txBody>
      </p:sp>
      <p:cxnSp>
        <p:nvCxnSpPr>
          <p:cNvPr id="468" name="Google Shape;468;p7"/>
          <p:cNvCxnSpPr>
            <a:cxnSpLocks/>
            <a:stCxn id="466" idx="3"/>
            <a:endCxn id="467" idx="2"/>
          </p:cNvCxnSpPr>
          <p:nvPr/>
        </p:nvCxnSpPr>
        <p:spPr>
          <a:xfrm>
            <a:off x="833506" y="3769849"/>
            <a:ext cx="373326" cy="11700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9" name="Google Shape;469;p7"/>
          <p:cNvCxnSpPr>
            <a:cxnSpLocks/>
            <a:stCxn id="467" idx="6"/>
            <a:endCxn id="465" idx="1"/>
          </p:cNvCxnSpPr>
          <p:nvPr/>
        </p:nvCxnSpPr>
        <p:spPr>
          <a:xfrm flipV="1">
            <a:off x="2123750" y="3769849"/>
            <a:ext cx="357720" cy="11700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0" name="Google Shape;470;p7"/>
          <p:cNvSpPr txBox="1"/>
          <p:nvPr/>
        </p:nvSpPr>
        <p:spPr>
          <a:xfrm>
            <a:off x="1206832" y="2564927"/>
            <a:ext cx="916918" cy="64629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Select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Forget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Ignore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7"/>
          <p:cNvCxnSpPr>
            <a:cxnSpLocks/>
            <a:stCxn id="467" idx="6"/>
            <a:endCxn id="470" idx="3"/>
          </p:cNvCxnSpPr>
          <p:nvPr/>
        </p:nvCxnSpPr>
        <p:spPr>
          <a:xfrm flipV="1">
            <a:off x="2123750" y="2888072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2" name="Google Shape;472;p7"/>
          <p:cNvCxnSpPr>
            <a:cxnSpLocks/>
            <a:stCxn id="470" idx="1"/>
            <a:endCxn id="467" idx="2"/>
          </p:cNvCxnSpPr>
          <p:nvPr/>
        </p:nvCxnSpPr>
        <p:spPr>
          <a:xfrm rot="10800000" flipV="1">
            <a:off x="1206832" y="2888071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3" name="Google Shape;473;p7"/>
          <p:cNvSpPr txBox="1"/>
          <p:nvPr/>
        </p:nvSpPr>
        <p:spPr>
          <a:xfrm>
            <a:off x="3140384" y="1419222"/>
            <a:ext cx="27465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 information from previous prediction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(weights, bias, activation function, etc.)</a:t>
            </a:r>
            <a:endParaRPr/>
          </a:p>
        </p:txBody>
      </p:sp>
      <p:sp>
        <p:nvSpPr>
          <p:cNvPr id="25" name="Google Shape;466;p7">
            <a:extLst>
              <a:ext uri="{FF2B5EF4-FFF2-40B4-BE49-F238E27FC236}">
                <a16:creationId xmlns:a16="http://schemas.microsoft.com/office/drawing/2014/main" id="{E230EF7E-B656-1940-C99E-D919AFB17033}"/>
              </a:ext>
            </a:extLst>
          </p:cNvPr>
          <p:cNvSpPr/>
          <p:nvPr/>
        </p:nvSpPr>
        <p:spPr>
          <a:xfrm>
            <a:off x="4652182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1</a:t>
            </a:r>
            <a:endParaRPr sz="1050" dirty="0"/>
          </a:p>
        </p:txBody>
      </p:sp>
      <p:sp>
        <p:nvSpPr>
          <p:cNvPr id="26" name="Google Shape;466;p7">
            <a:extLst>
              <a:ext uri="{FF2B5EF4-FFF2-40B4-BE49-F238E27FC236}">
                <a16:creationId xmlns:a16="http://schemas.microsoft.com/office/drawing/2014/main" id="{C49E6917-3300-B3D0-77B6-36835B0BB4AE}"/>
              </a:ext>
            </a:extLst>
          </p:cNvPr>
          <p:cNvSpPr/>
          <p:nvPr/>
        </p:nvSpPr>
        <p:spPr>
          <a:xfrm>
            <a:off x="5566206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2</a:t>
            </a:r>
            <a:endParaRPr sz="1050" dirty="0"/>
          </a:p>
        </p:txBody>
      </p:sp>
      <p:sp>
        <p:nvSpPr>
          <p:cNvPr id="27" name="Google Shape;466;p7">
            <a:extLst>
              <a:ext uri="{FF2B5EF4-FFF2-40B4-BE49-F238E27FC236}">
                <a16:creationId xmlns:a16="http://schemas.microsoft.com/office/drawing/2014/main" id="{5E25D46B-86ED-6374-9968-F2C20C003D9A}"/>
              </a:ext>
            </a:extLst>
          </p:cNvPr>
          <p:cNvSpPr/>
          <p:nvPr/>
        </p:nvSpPr>
        <p:spPr>
          <a:xfrm>
            <a:off x="6480230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3</a:t>
            </a:r>
            <a:endParaRPr sz="1050" dirty="0"/>
          </a:p>
        </p:txBody>
      </p:sp>
      <p:sp>
        <p:nvSpPr>
          <p:cNvPr id="28" name="Google Shape;466;p7">
            <a:extLst>
              <a:ext uri="{FF2B5EF4-FFF2-40B4-BE49-F238E27FC236}">
                <a16:creationId xmlns:a16="http://schemas.microsoft.com/office/drawing/2014/main" id="{DAE324F0-6FE7-4202-7A77-37CFC61E4359}"/>
              </a:ext>
            </a:extLst>
          </p:cNvPr>
          <p:cNvSpPr/>
          <p:nvPr/>
        </p:nvSpPr>
        <p:spPr>
          <a:xfrm>
            <a:off x="8150842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n</a:t>
            </a:r>
            <a:endParaRPr sz="105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B8FDC41-6735-FCD2-6927-2278AA5C3DC8}"/>
              </a:ext>
            </a:extLst>
          </p:cNvPr>
          <p:cNvCxnSpPr/>
          <p:nvPr/>
        </p:nvCxnSpPr>
        <p:spPr>
          <a:xfrm>
            <a:off x="3586163" y="3225504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B6B969-A847-0BE2-26B8-AB4C62CCB5E2}"/>
              </a:ext>
            </a:extLst>
          </p:cNvPr>
          <p:cNvCxnSpPr/>
          <p:nvPr/>
        </p:nvCxnSpPr>
        <p:spPr>
          <a:xfrm>
            <a:off x="3586163" y="3413623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467;p7">
            <a:extLst>
              <a:ext uri="{FF2B5EF4-FFF2-40B4-BE49-F238E27FC236}">
                <a16:creationId xmlns:a16="http://schemas.microsoft.com/office/drawing/2014/main" id="{A397037F-3313-FDA5-2E1B-CF79415A42C3}"/>
              </a:ext>
            </a:extLst>
          </p:cNvPr>
          <p:cNvSpPr/>
          <p:nvPr/>
        </p:nvSpPr>
        <p:spPr>
          <a:xfrm>
            <a:off x="4682930" y="3170769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5" name="Google Shape;467;p7">
            <a:extLst>
              <a:ext uri="{FF2B5EF4-FFF2-40B4-BE49-F238E27FC236}">
                <a16:creationId xmlns:a16="http://schemas.microsoft.com/office/drawing/2014/main" id="{07DDA6BD-6343-D768-06EB-9423752E8AE8}"/>
              </a:ext>
            </a:extLst>
          </p:cNvPr>
          <p:cNvSpPr/>
          <p:nvPr/>
        </p:nvSpPr>
        <p:spPr>
          <a:xfrm>
            <a:off x="5605043" y="3174919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6" name="Google Shape;467;p7">
            <a:extLst>
              <a:ext uri="{FF2B5EF4-FFF2-40B4-BE49-F238E27FC236}">
                <a16:creationId xmlns:a16="http://schemas.microsoft.com/office/drawing/2014/main" id="{572E4812-BB9A-D455-1448-A9FB11AAD169}"/>
              </a:ext>
            </a:extLst>
          </p:cNvPr>
          <p:cNvSpPr/>
          <p:nvPr/>
        </p:nvSpPr>
        <p:spPr>
          <a:xfrm>
            <a:off x="6517156" y="3170769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7" name="Google Shape;467;p7">
            <a:extLst>
              <a:ext uri="{FF2B5EF4-FFF2-40B4-BE49-F238E27FC236}">
                <a16:creationId xmlns:a16="http://schemas.microsoft.com/office/drawing/2014/main" id="{8A9F271B-2F28-D1EB-E85A-1C5636B9192C}"/>
              </a:ext>
            </a:extLst>
          </p:cNvPr>
          <p:cNvSpPr/>
          <p:nvPr/>
        </p:nvSpPr>
        <p:spPr>
          <a:xfrm>
            <a:off x="8169233" y="3180786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620E42-1A18-3842-DEF4-6F8372D4E79F}"/>
              </a:ext>
            </a:extLst>
          </p:cNvPr>
          <p:cNvCxnSpPr>
            <a:stCxn id="34" idx="6"/>
          </p:cNvCxnSpPr>
          <p:nvPr/>
        </p:nvCxnSpPr>
        <p:spPr>
          <a:xfrm flipV="1">
            <a:off x="5262790" y="3427051"/>
            <a:ext cx="303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EE8461-81B9-5798-AD3C-9DACAAABE72E}"/>
              </a:ext>
            </a:extLst>
          </p:cNvPr>
          <p:cNvCxnSpPr/>
          <p:nvPr/>
        </p:nvCxnSpPr>
        <p:spPr>
          <a:xfrm flipV="1">
            <a:off x="6199321" y="3424998"/>
            <a:ext cx="303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9477BF-6D34-A0E4-DC7F-74BA50D64499}"/>
              </a:ext>
            </a:extLst>
          </p:cNvPr>
          <p:cNvCxnSpPr>
            <a:cxnSpLocks/>
            <a:stCxn id="36" idx="6"/>
            <a:endCxn id="37" idx="2"/>
          </p:cNvCxnSpPr>
          <p:nvPr/>
        </p:nvCxnSpPr>
        <p:spPr>
          <a:xfrm>
            <a:off x="7097016" y="3427052"/>
            <a:ext cx="1072217" cy="10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Google Shape;466;p7">
            <a:extLst>
              <a:ext uri="{FF2B5EF4-FFF2-40B4-BE49-F238E27FC236}">
                <a16:creationId xmlns:a16="http://schemas.microsoft.com/office/drawing/2014/main" id="{606F2321-D607-623D-647B-4E25289A6FC4}"/>
              </a:ext>
            </a:extLst>
          </p:cNvPr>
          <p:cNvSpPr/>
          <p:nvPr/>
        </p:nvSpPr>
        <p:spPr>
          <a:xfrm>
            <a:off x="4652182" y="252288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1</a:t>
            </a:r>
            <a:endParaRPr sz="1050" dirty="0"/>
          </a:p>
        </p:txBody>
      </p:sp>
      <p:sp>
        <p:nvSpPr>
          <p:cNvPr id="49" name="Google Shape;466;p7">
            <a:extLst>
              <a:ext uri="{FF2B5EF4-FFF2-40B4-BE49-F238E27FC236}">
                <a16:creationId xmlns:a16="http://schemas.microsoft.com/office/drawing/2014/main" id="{98809948-6CE1-76A8-C592-3ED4EF084B19}"/>
              </a:ext>
            </a:extLst>
          </p:cNvPr>
          <p:cNvSpPr/>
          <p:nvPr/>
        </p:nvSpPr>
        <p:spPr>
          <a:xfrm>
            <a:off x="5574295" y="2523008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2</a:t>
            </a:r>
            <a:endParaRPr sz="1050" dirty="0"/>
          </a:p>
        </p:txBody>
      </p:sp>
      <p:sp>
        <p:nvSpPr>
          <p:cNvPr id="50" name="Google Shape;466;p7">
            <a:extLst>
              <a:ext uri="{FF2B5EF4-FFF2-40B4-BE49-F238E27FC236}">
                <a16:creationId xmlns:a16="http://schemas.microsoft.com/office/drawing/2014/main" id="{FAF08C05-80EF-ED75-25FD-C6C83BBA5E74}"/>
              </a:ext>
            </a:extLst>
          </p:cNvPr>
          <p:cNvSpPr/>
          <p:nvPr/>
        </p:nvSpPr>
        <p:spPr>
          <a:xfrm>
            <a:off x="6474996" y="251693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3</a:t>
            </a:r>
            <a:endParaRPr sz="1050" dirty="0"/>
          </a:p>
        </p:txBody>
      </p:sp>
      <p:sp>
        <p:nvSpPr>
          <p:cNvPr id="51" name="Google Shape;466;p7">
            <a:extLst>
              <a:ext uri="{FF2B5EF4-FFF2-40B4-BE49-F238E27FC236}">
                <a16:creationId xmlns:a16="http://schemas.microsoft.com/office/drawing/2014/main" id="{99C658B8-44A3-118E-9900-5B94756D5DB5}"/>
              </a:ext>
            </a:extLst>
          </p:cNvPr>
          <p:cNvSpPr/>
          <p:nvPr/>
        </p:nvSpPr>
        <p:spPr>
          <a:xfrm>
            <a:off x="8129467" y="251693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n</a:t>
            </a:r>
            <a:endParaRPr sz="105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135F221-B832-4FB3-23AE-8823AA87201B}"/>
              </a:ext>
            </a:extLst>
          </p:cNvPr>
          <p:cNvCxnSpPr>
            <a:stCxn id="34" idx="0"/>
            <a:endCxn id="48" idx="2"/>
          </p:cNvCxnSpPr>
          <p:nvPr/>
        </p:nvCxnSpPr>
        <p:spPr>
          <a:xfrm flipV="1">
            <a:off x="4972860" y="289437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DFA2F0-DD6A-E728-95EC-037FC2611A74}"/>
              </a:ext>
            </a:extLst>
          </p:cNvPr>
          <p:cNvCxnSpPr/>
          <p:nvPr/>
        </p:nvCxnSpPr>
        <p:spPr>
          <a:xfrm flipV="1">
            <a:off x="5894973" y="288842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178526F-224D-266C-8EC4-B1127B9D3A8E}"/>
              </a:ext>
            </a:extLst>
          </p:cNvPr>
          <p:cNvCxnSpPr/>
          <p:nvPr/>
        </p:nvCxnSpPr>
        <p:spPr>
          <a:xfrm flipV="1">
            <a:off x="6791721" y="288842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E4075E-166B-45D0-19D1-D70158321EDA}"/>
              </a:ext>
            </a:extLst>
          </p:cNvPr>
          <p:cNvCxnSpPr/>
          <p:nvPr/>
        </p:nvCxnSpPr>
        <p:spPr>
          <a:xfrm flipV="1">
            <a:off x="8448067" y="289852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2D3BB2B-6FCA-AD58-9AD1-AE74A2435751}"/>
              </a:ext>
            </a:extLst>
          </p:cNvPr>
          <p:cNvCxnSpPr/>
          <p:nvPr/>
        </p:nvCxnSpPr>
        <p:spPr>
          <a:xfrm flipV="1">
            <a:off x="4976051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1DE9410-DC2E-717B-9831-29EB58806803}"/>
              </a:ext>
            </a:extLst>
          </p:cNvPr>
          <p:cNvCxnSpPr/>
          <p:nvPr/>
        </p:nvCxnSpPr>
        <p:spPr>
          <a:xfrm flipV="1">
            <a:off x="5912452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6428E0-7E31-48BB-2909-8C1F626BAA1D}"/>
              </a:ext>
            </a:extLst>
          </p:cNvPr>
          <p:cNvCxnSpPr/>
          <p:nvPr/>
        </p:nvCxnSpPr>
        <p:spPr>
          <a:xfrm flipV="1">
            <a:off x="6809200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11D8EC-FB6F-C66A-67E0-B51A6FA6990B}"/>
              </a:ext>
            </a:extLst>
          </p:cNvPr>
          <p:cNvCxnSpPr/>
          <p:nvPr/>
        </p:nvCxnSpPr>
        <p:spPr>
          <a:xfrm flipV="1">
            <a:off x="8473799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32" grpId="0" animBg="1"/>
      <p:bldP spid="465" grpId="0" animBg="1"/>
      <p:bldP spid="466" grpId="0" animBg="1"/>
      <p:bldP spid="467" grpId="0" animBg="1"/>
      <p:bldP spid="470" grpId="0" animBg="1"/>
      <p:bldP spid="25" grpId="0" animBg="1"/>
      <p:bldP spid="26" grpId="0" animBg="1"/>
      <p:bldP spid="27" grpId="0" animBg="1"/>
      <p:bldP spid="28" grpId="0" animBg="1"/>
      <p:bldP spid="34" grpId="0" animBg="1"/>
      <p:bldP spid="35" grpId="0" animBg="1"/>
      <p:bldP spid="36" grpId="0" animBg="1"/>
      <p:bldP spid="3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EDC706FC-5895-23F4-5E89-B4CEA344A8F7}"/>
              </a:ext>
            </a:extLst>
          </p:cNvPr>
          <p:cNvSpPr/>
          <p:nvPr/>
        </p:nvSpPr>
        <p:spPr>
          <a:xfrm>
            <a:off x="4469566" y="2388539"/>
            <a:ext cx="4482284" cy="20870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7DD16A-9BDE-C709-9E0F-70F4889D8591}"/>
              </a:ext>
            </a:extLst>
          </p:cNvPr>
          <p:cNvSpPr/>
          <p:nvPr/>
        </p:nvSpPr>
        <p:spPr>
          <a:xfrm>
            <a:off x="113883" y="2399228"/>
            <a:ext cx="3286125" cy="20870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2" name="Google Shape;462;p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>
                <a:solidFill>
                  <a:srgbClr val="E69138"/>
                </a:solidFill>
              </a:rPr>
              <a:t>Long Short Term Memory Network</a:t>
            </a:r>
            <a:endParaRPr sz="3800" b="1">
              <a:solidFill>
                <a:srgbClr val="E6913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>
                <a:solidFill>
                  <a:srgbClr val="E69138"/>
                </a:solidFill>
              </a:rPr>
              <a:t>(LSTM)</a:t>
            </a:r>
            <a:endParaRPr sz="3800" b="1">
              <a:solidFill>
                <a:srgbClr val="E69138"/>
              </a:solidFill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2481470" y="3584101"/>
            <a:ext cx="798249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Predicted</a:t>
            </a:r>
            <a:endParaRPr sz="1050" dirty="0"/>
          </a:p>
        </p:txBody>
      </p:sp>
      <p:sp>
        <p:nvSpPr>
          <p:cNvPr id="466" name="Google Shape;466;p7"/>
          <p:cNvSpPr/>
          <p:nvPr/>
        </p:nvSpPr>
        <p:spPr>
          <a:xfrm>
            <a:off x="192150" y="358410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</a:t>
            </a:r>
            <a:endParaRPr sz="1050" dirty="0"/>
          </a:p>
        </p:txBody>
      </p:sp>
      <p:sp>
        <p:nvSpPr>
          <p:cNvPr id="467" name="Google Shape;467;p7"/>
          <p:cNvSpPr/>
          <p:nvPr/>
        </p:nvSpPr>
        <p:spPr>
          <a:xfrm>
            <a:off x="1206832" y="3319849"/>
            <a:ext cx="916918" cy="923400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Hidden State</a:t>
            </a:r>
            <a:endParaRPr/>
          </a:p>
        </p:txBody>
      </p:sp>
      <p:cxnSp>
        <p:nvCxnSpPr>
          <p:cNvPr id="468" name="Google Shape;468;p7"/>
          <p:cNvCxnSpPr>
            <a:cxnSpLocks/>
            <a:stCxn id="466" idx="3"/>
            <a:endCxn id="467" idx="2"/>
          </p:cNvCxnSpPr>
          <p:nvPr/>
        </p:nvCxnSpPr>
        <p:spPr>
          <a:xfrm>
            <a:off x="833506" y="3769849"/>
            <a:ext cx="373326" cy="11700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9" name="Google Shape;469;p7"/>
          <p:cNvCxnSpPr>
            <a:cxnSpLocks/>
            <a:stCxn id="467" idx="6"/>
            <a:endCxn id="465" idx="1"/>
          </p:cNvCxnSpPr>
          <p:nvPr/>
        </p:nvCxnSpPr>
        <p:spPr>
          <a:xfrm flipV="1">
            <a:off x="2123750" y="3769849"/>
            <a:ext cx="357720" cy="11700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1" name="Google Shape;471;p7"/>
          <p:cNvCxnSpPr>
            <a:cxnSpLocks/>
            <a:stCxn id="467" idx="6"/>
            <a:endCxn id="467" idx="2"/>
          </p:cNvCxnSpPr>
          <p:nvPr/>
        </p:nvCxnSpPr>
        <p:spPr>
          <a:xfrm flipH="1">
            <a:off x="1206832" y="3781549"/>
            <a:ext cx="916918" cy="12700"/>
          </a:xfrm>
          <a:prstGeom prst="curvedConnector5">
            <a:avLst>
              <a:gd name="adj1" fmla="val -24931"/>
              <a:gd name="adj2" fmla="val -8206669"/>
              <a:gd name="adj3" fmla="val 124931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3" name="Google Shape;473;p7"/>
          <p:cNvSpPr txBox="1"/>
          <p:nvPr/>
        </p:nvSpPr>
        <p:spPr>
          <a:xfrm>
            <a:off x="3140384" y="1419222"/>
            <a:ext cx="27465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 information from previous prediction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(weights, bias, activation function, etc.)</a:t>
            </a:r>
            <a:endParaRPr/>
          </a:p>
        </p:txBody>
      </p:sp>
      <p:sp>
        <p:nvSpPr>
          <p:cNvPr id="25" name="Google Shape;466;p7">
            <a:extLst>
              <a:ext uri="{FF2B5EF4-FFF2-40B4-BE49-F238E27FC236}">
                <a16:creationId xmlns:a16="http://schemas.microsoft.com/office/drawing/2014/main" id="{E230EF7E-B656-1940-C99E-D919AFB17033}"/>
              </a:ext>
            </a:extLst>
          </p:cNvPr>
          <p:cNvSpPr/>
          <p:nvPr/>
        </p:nvSpPr>
        <p:spPr>
          <a:xfrm>
            <a:off x="4652182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1</a:t>
            </a:r>
            <a:endParaRPr sz="1050" dirty="0"/>
          </a:p>
        </p:txBody>
      </p:sp>
      <p:sp>
        <p:nvSpPr>
          <p:cNvPr id="26" name="Google Shape;466;p7">
            <a:extLst>
              <a:ext uri="{FF2B5EF4-FFF2-40B4-BE49-F238E27FC236}">
                <a16:creationId xmlns:a16="http://schemas.microsoft.com/office/drawing/2014/main" id="{C49E6917-3300-B3D0-77B6-36835B0BB4AE}"/>
              </a:ext>
            </a:extLst>
          </p:cNvPr>
          <p:cNvSpPr/>
          <p:nvPr/>
        </p:nvSpPr>
        <p:spPr>
          <a:xfrm>
            <a:off x="5566206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2</a:t>
            </a:r>
            <a:endParaRPr sz="1050" dirty="0"/>
          </a:p>
        </p:txBody>
      </p:sp>
      <p:sp>
        <p:nvSpPr>
          <p:cNvPr id="27" name="Google Shape;466;p7">
            <a:extLst>
              <a:ext uri="{FF2B5EF4-FFF2-40B4-BE49-F238E27FC236}">
                <a16:creationId xmlns:a16="http://schemas.microsoft.com/office/drawing/2014/main" id="{5E25D46B-86ED-6374-9968-F2C20C003D9A}"/>
              </a:ext>
            </a:extLst>
          </p:cNvPr>
          <p:cNvSpPr/>
          <p:nvPr/>
        </p:nvSpPr>
        <p:spPr>
          <a:xfrm>
            <a:off x="6480230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3</a:t>
            </a:r>
            <a:endParaRPr sz="1050" dirty="0"/>
          </a:p>
        </p:txBody>
      </p:sp>
      <p:sp>
        <p:nvSpPr>
          <p:cNvPr id="28" name="Google Shape;466;p7">
            <a:extLst>
              <a:ext uri="{FF2B5EF4-FFF2-40B4-BE49-F238E27FC236}">
                <a16:creationId xmlns:a16="http://schemas.microsoft.com/office/drawing/2014/main" id="{DAE324F0-6FE7-4202-7A77-37CFC61E4359}"/>
              </a:ext>
            </a:extLst>
          </p:cNvPr>
          <p:cNvSpPr/>
          <p:nvPr/>
        </p:nvSpPr>
        <p:spPr>
          <a:xfrm>
            <a:off x="8150842" y="3950342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Input n</a:t>
            </a:r>
            <a:endParaRPr sz="105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B8FDC41-6735-FCD2-6927-2278AA5C3DC8}"/>
              </a:ext>
            </a:extLst>
          </p:cNvPr>
          <p:cNvCxnSpPr/>
          <p:nvPr/>
        </p:nvCxnSpPr>
        <p:spPr>
          <a:xfrm>
            <a:off x="3586163" y="3225504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B6B969-A847-0BE2-26B8-AB4C62CCB5E2}"/>
              </a:ext>
            </a:extLst>
          </p:cNvPr>
          <p:cNvCxnSpPr/>
          <p:nvPr/>
        </p:nvCxnSpPr>
        <p:spPr>
          <a:xfrm>
            <a:off x="3586163" y="3413623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467;p7">
            <a:extLst>
              <a:ext uri="{FF2B5EF4-FFF2-40B4-BE49-F238E27FC236}">
                <a16:creationId xmlns:a16="http://schemas.microsoft.com/office/drawing/2014/main" id="{A397037F-3313-FDA5-2E1B-CF79415A42C3}"/>
              </a:ext>
            </a:extLst>
          </p:cNvPr>
          <p:cNvSpPr/>
          <p:nvPr/>
        </p:nvSpPr>
        <p:spPr>
          <a:xfrm>
            <a:off x="4682930" y="3170769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5" name="Google Shape;467;p7">
            <a:extLst>
              <a:ext uri="{FF2B5EF4-FFF2-40B4-BE49-F238E27FC236}">
                <a16:creationId xmlns:a16="http://schemas.microsoft.com/office/drawing/2014/main" id="{07DDA6BD-6343-D768-06EB-9423752E8AE8}"/>
              </a:ext>
            </a:extLst>
          </p:cNvPr>
          <p:cNvSpPr/>
          <p:nvPr/>
        </p:nvSpPr>
        <p:spPr>
          <a:xfrm>
            <a:off x="5605043" y="3174919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6" name="Google Shape;467;p7">
            <a:extLst>
              <a:ext uri="{FF2B5EF4-FFF2-40B4-BE49-F238E27FC236}">
                <a16:creationId xmlns:a16="http://schemas.microsoft.com/office/drawing/2014/main" id="{572E4812-BB9A-D455-1448-A9FB11AAD169}"/>
              </a:ext>
            </a:extLst>
          </p:cNvPr>
          <p:cNvSpPr/>
          <p:nvPr/>
        </p:nvSpPr>
        <p:spPr>
          <a:xfrm>
            <a:off x="6517156" y="3170769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7" name="Google Shape;467;p7">
            <a:extLst>
              <a:ext uri="{FF2B5EF4-FFF2-40B4-BE49-F238E27FC236}">
                <a16:creationId xmlns:a16="http://schemas.microsoft.com/office/drawing/2014/main" id="{8A9F271B-2F28-D1EB-E85A-1C5636B9192C}"/>
              </a:ext>
            </a:extLst>
          </p:cNvPr>
          <p:cNvSpPr/>
          <p:nvPr/>
        </p:nvSpPr>
        <p:spPr>
          <a:xfrm>
            <a:off x="8169233" y="3180786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620E42-1A18-3842-DEF4-6F8372D4E79F}"/>
              </a:ext>
            </a:extLst>
          </p:cNvPr>
          <p:cNvCxnSpPr>
            <a:stCxn id="34" idx="6"/>
          </p:cNvCxnSpPr>
          <p:nvPr/>
        </p:nvCxnSpPr>
        <p:spPr>
          <a:xfrm flipV="1">
            <a:off x="5262790" y="3427051"/>
            <a:ext cx="303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EE8461-81B9-5798-AD3C-9DACAAABE72E}"/>
              </a:ext>
            </a:extLst>
          </p:cNvPr>
          <p:cNvCxnSpPr/>
          <p:nvPr/>
        </p:nvCxnSpPr>
        <p:spPr>
          <a:xfrm flipV="1">
            <a:off x="6199321" y="3424998"/>
            <a:ext cx="303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9477BF-6D34-A0E4-DC7F-74BA50D64499}"/>
              </a:ext>
            </a:extLst>
          </p:cNvPr>
          <p:cNvCxnSpPr>
            <a:cxnSpLocks/>
            <a:stCxn id="36" idx="6"/>
            <a:endCxn id="37" idx="2"/>
          </p:cNvCxnSpPr>
          <p:nvPr/>
        </p:nvCxnSpPr>
        <p:spPr>
          <a:xfrm>
            <a:off x="7097016" y="3427052"/>
            <a:ext cx="1072217" cy="10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Google Shape;466;p7">
            <a:extLst>
              <a:ext uri="{FF2B5EF4-FFF2-40B4-BE49-F238E27FC236}">
                <a16:creationId xmlns:a16="http://schemas.microsoft.com/office/drawing/2014/main" id="{606F2321-D607-623D-647B-4E25289A6FC4}"/>
              </a:ext>
            </a:extLst>
          </p:cNvPr>
          <p:cNvSpPr/>
          <p:nvPr/>
        </p:nvSpPr>
        <p:spPr>
          <a:xfrm>
            <a:off x="4652182" y="252288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1</a:t>
            </a:r>
            <a:endParaRPr sz="1050" dirty="0"/>
          </a:p>
        </p:txBody>
      </p:sp>
      <p:sp>
        <p:nvSpPr>
          <p:cNvPr id="49" name="Google Shape;466;p7">
            <a:extLst>
              <a:ext uri="{FF2B5EF4-FFF2-40B4-BE49-F238E27FC236}">
                <a16:creationId xmlns:a16="http://schemas.microsoft.com/office/drawing/2014/main" id="{98809948-6CE1-76A8-C592-3ED4EF084B19}"/>
              </a:ext>
            </a:extLst>
          </p:cNvPr>
          <p:cNvSpPr/>
          <p:nvPr/>
        </p:nvSpPr>
        <p:spPr>
          <a:xfrm>
            <a:off x="5574295" y="2523008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2</a:t>
            </a:r>
            <a:endParaRPr sz="1050" dirty="0"/>
          </a:p>
        </p:txBody>
      </p:sp>
      <p:sp>
        <p:nvSpPr>
          <p:cNvPr id="50" name="Google Shape;466;p7">
            <a:extLst>
              <a:ext uri="{FF2B5EF4-FFF2-40B4-BE49-F238E27FC236}">
                <a16:creationId xmlns:a16="http://schemas.microsoft.com/office/drawing/2014/main" id="{FAF08C05-80EF-ED75-25FD-C6C83BBA5E74}"/>
              </a:ext>
            </a:extLst>
          </p:cNvPr>
          <p:cNvSpPr/>
          <p:nvPr/>
        </p:nvSpPr>
        <p:spPr>
          <a:xfrm>
            <a:off x="6474996" y="251693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3</a:t>
            </a:r>
            <a:endParaRPr sz="1050" dirty="0"/>
          </a:p>
        </p:txBody>
      </p:sp>
      <p:sp>
        <p:nvSpPr>
          <p:cNvPr id="51" name="Google Shape;466;p7">
            <a:extLst>
              <a:ext uri="{FF2B5EF4-FFF2-40B4-BE49-F238E27FC236}">
                <a16:creationId xmlns:a16="http://schemas.microsoft.com/office/drawing/2014/main" id="{99C658B8-44A3-118E-9900-5B94756D5DB5}"/>
              </a:ext>
            </a:extLst>
          </p:cNvPr>
          <p:cNvSpPr/>
          <p:nvPr/>
        </p:nvSpPr>
        <p:spPr>
          <a:xfrm>
            <a:off x="8129467" y="251693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Output n</a:t>
            </a:r>
            <a:endParaRPr sz="105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135F221-B832-4FB3-23AE-8823AA87201B}"/>
              </a:ext>
            </a:extLst>
          </p:cNvPr>
          <p:cNvCxnSpPr>
            <a:stCxn id="34" idx="0"/>
            <a:endCxn id="48" idx="2"/>
          </p:cNvCxnSpPr>
          <p:nvPr/>
        </p:nvCxnSpPr>
        <p:spPr>
          <a:xfrm flipV="1">
            <a:off x="4972860" y="289437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DFA2F0-DD6A-E728-95EC-037FC2611A74}"/>
              </a:ext>
            </a:extLst>
          </p:cNvPr>
          <p:cNvCxnSpPr/>
          <p:nvPr/>
        </p:nvCxnSpPr>
        <p:spPr>
          <a:xfrm flipV="1">
            <a:off x="5894973" y="288842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178526F-224D-266C-8EC4-B1127B9D3A8E}"/>
              </a:ext>
            </a:extLst>
          </p:cNvPr>
          <p:cNvCxnSpPr/>
          <p:nvPr/>
        </p:nvCxnSpPr>
        <p:spPr>
          <a:xfrm flipV="1">
            <a:off x="6791721" y="288842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E4075E-166B-45D0-19D1-D70158321EDA}"/>
              </a:ext>
            </a:extLst>
          </p:cNvPr>
          <p:cNvCxnSpPr/>
          <p:nvPr/>
        </p:nvCxnSpPr>
        <p:spPr>
          <a:xfrm flipV="1">
            <a:off x="8448067" y="289852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2D3BB2B-6FCA-AD58-9AD1-AE74A2435751}"/>
              </a:ext>
            </a:extLst>
          </p:cNvPr>
          <p:cNvCxnSpPr/>
          <p:nvPr/>
        </p:nvCxnSpPr>
        <p:spPr>
          <a:xfrm flipV="1">
            <a:off x="4976051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1DE9410-DC2E-717B-9831-29EB58806803}"/>
              </a:ext>
            </a:extLst>
          </p:cNvPr>
          <p:cNvCxnSpPr/>
          <p:nvPr/>
        </p:nvCxnSpPr>
        <p:spPr>
          <a:xfrm flipV="1">
            <a:off x="5912452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6428E0-7E31-48BB-2909-8C1F626BAA1D}"/>
              </a:ext>
            </a:extLst>
          </p:cNvPr>
          <p:cNvCxnSpPr/>
          <p:nvPr/>
        </p:nvCxnSpPr>
        <p:spPr>
          <a:xfrm flipV="1">
            <a:off x="6809200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11D8EC-FB6F-C66A-67E0-B51A6FA6990B}"/>
              </a:ext>
            </a:extLst>
          </p:cNvPr>
          <p:cNvCxnSpPr/>
          <p:nvPr/>
        </p:nvCxnSpPr>
        <p:spPr>
          <a:xfrm flipV="1">
            <a:off x="8473799" y="3670787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33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32" grpId="0" animBg="1"/>
      <p:bldP spid="465" grpId="0" animBg="1"/>
      <p:bldP spid="466" grpId="0" animBg="1"/>
      <p:bldP spid="467" grpId="0" animBg="1"/>
      <p:bldP spid="25" grpId="0" animBg="1"/>
      <p:bldP spid="26" grpId="0" animBg="1"/>
      <p:bldP spid="27" grpId="0" animBg="1"/>
      <p:bldP spid="28" grpId="0" animBg="1"/>
      <p:bldP spid="34" grpId="0" animBg="1"/>
      <p:bldP spid="35" grpId="0" animBg="1"/>
      <p:bldP spid="36" grpId="0" animBg="1"/>
      <p:bldP spid="3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8F26CFC-0783-E8A2-C409-BC2A1CED025A}"/>
              </a:ext>
            </a:extLst>
          </p:cNvPr>
          <p:cNvSpPr/>
          <p:nvPr/>
        </p:nvSpPr>
        <p:spPr>
          <a:xfrm>
            <a:off x="4484570" y="1976910"/>
            <a:ext cx="4580845" cy="20870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2" name="Google Shape;462;p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3800" b="1" dirty="0">
                <a:solidFill>
                  <a:srgbClr val="E69138"/>
                </a:solidFill>
              </a:rPr>
              <a:t>LSTM Applied to Walmart Sales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466;p7">
            <a:extLst>
              <a:ext uri="{FF2B5EF4-FFF2-40B4-BE49-F238E27FC236}">
                <a16:creationId xmlns:a16="http://schemas.microsoft.com/office/drawing/2014/main" id="{E230EF7E-B656-1940-C99E-D919AFB17033}"/>
              </a:ext>
            </a:extLst>
          </p:cNvPr>
          <p:cNvSpPr/>
          <p:nvPr/>
        </p:nvSpPr>
        <p:spPr>
          <a:xfrm>
            <a:off x="4638943" y="354624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Day 1</a:t>
            </a:r>
            <a:endParaRPr sz="1050" dirty="0"/>
          </a:p>
        </p:txBody>
      </p:sp>
      <p:sp>
        <p:nvSpPr>
          <p:cNvPr id="26" name="Google Shape;466;p7">
            <a:extLst>
              <a:ext uri="{FF2B5EF4-FFF2-40B4-BE49-F238E27FC236}">
                <a16:creationId xmlns:a16="http://schemas.microsoft.com/office/drawing/2014/main" id="{C49E6917-3300-B3D0-77B6-36835B0BB4AE}"/>
              </a:ext>
            </a:extLst>
          </p:cNvPr>
          <p:cNvSpPr/>
          <p:nvPr/>
        </p:nvSpPr>
        <p:spPr>
          <a:xfrm>
            <a:off x="5552967" y="354624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1050" b="1" dirty="0">
                <a:solidFill>
                  <a:schemeClr val="dk1"/>
                </a:solidFill>
              </a:rPr>
              <a:t>Day </a:t>
            </a: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2</a:t>
            </a:r>
            <a:endParaRPr sz="1050" dirty="0"/>
          </a:p>
        </p:txBody>
      </p:sp>
      <p:sp>
        <p:nvSpPr>
          <p:cNvPr id="27" name="Google Shape;466;p7">
            <a:extLst>
              <a:ext uri="{FF2B5EF4-FFF2-40B4-BE49-F238E27FC236}">
                <a16:creationId xmlns:a16="http://schemas.microsoft.com/office/drawing/2014/main" id="{5E25D46B-86ED-6374-9968-F2C20C003D9A}"/>
              </a:ext>
            </a:extLst>
          </p:cNvPr>
          <p:cNvSpPr/>
          <p:nvPr/>
        </p:nvSpPr>
        <p:spPr>
          <a:xfrm>
            <a:off x="6466991" y="354624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1050" b="1" dirty="0">
                <a:solidFill>
                  <a:schemeClr val="dk1"/>
                </a:solidFill>
              </a:rPr>
              <a:t>Day </a:t>
            </a:r>
            <a:r>
              <a:rPr lang="en-AU" sz="1050" b="1" i="0" u="none" strike="noStrike" cap="none" dirty="0">
                <a:solidFill>
                  <a:schemeClr val="dk1"/>
                </a:solidFill>
                <a:sym typeface="Arial"/>
              </a:rPr>
              <a:t>3</a:t>
            </a:r>
            <a:endParaRPr sz="1050" dirty="0"/>
          </a:p>
        </p:txBody>
      </p:sp>
      <p:sp>
        <p:nvSpPr>
          <p:cNvPr id="28" name="Google Shape;466;p7">
            <a:extLst>
              <a:ext uri="{FF2B5EF4-FFF2-40B4-BE49-F238E27FC236}">
                <a16:creationId xmlns:a16="http://schemas.microsoft.com/office/drawing/2014/main" id="{DAE324F0-6FE7-4202-7A77-37CFC61E4359}"/>
              </a:ext>
            </a:extLst>
          </p:cNvPr>
          <p:cNvSpPr/>
          <p:nvPr/>
        </p:nvSpPr>
        <p:spPr>
          <a:xfrm>
            <a:off x="8137603" y="3546241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1050" b="1" dirty="0">
                <a:solidFill>
                  <a:schemeClr val="dk1"/>
                </a:solidFill>
              </a:rPr>
              <a:t>Day 27</a:t>
            </a:r>
            <a:endParaRPr sz="1050" dirty="0"/>
          </a:p>
        </p:txBody>
      </p:sp>
      <p:sp>
        <p:nvSpPr>
          <p:cNvPr id="34" name="Google Shape;467;p7">
            <a:extLst>
              <a:ext uri="{FF2B5EF4-FFF2-40B4-BE49-F238E27FC236}">
                <a16:creationId xmlns:a16="http://schemas.microsoft.com/office/drawing/2014/main" id="{A397037F-3313-FDA5-2E1B-CF79415A42C3}"/>
              </a:ext>
            </a:extLst>
          </p:cNvPr>
          <p:cNvSpPr/>
          <p:nvPr/>
        </p:nvSpPr>
        <p:spPr>
          <a:xfrm>
            <a:off x="4669691" y="2766668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5" name="Google Shape;467;p7">
            <a:extLst>
              <a:ext uri="{FF2B5EF4-FFF2-40B4-BE49-F238E27FC236}">
                <a16:creationId xmlns:a16="http://schemas.microsoft.com/office/drawing/2014/main" id="{07DDA6BD-6343-D768-06EB-9423752E8AE8}"/>
              </a:ext>
            </a:extLst>
          </p:cNvPr>
          <p:cNvSpPr/>
          <p:nvPr/>
        </p:nvSpPr>
        <p:spPr>
          <a:xfrm>
            <a:off x="5591804" y="2770818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6" name="Google Shape;467;p7">
            <a:extLst>
              <a:ext uri="{FF2B5EF4-FFF2-40B4-BE49-F238E27FC236}">
                <a16:creationId xmlns:a16="http://schemas.microsoft.com/office/drawing/2014/main" id="{572E4812-BB9A-D455-1448-A9FB11AAD169}"/>
              </a:ext>
            </a:extLst>
          </p:cNvPr>
          <p:cNvSpPr/>
          <p:nvPr/>
        </p:nvSpPr>
        <p:spPr>
          <a:xfrm>
            <a:off x="6503917" y="2766668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sp>
        <p:nvSpPr>
          <p:cNvPr id="37" name="Google Shape;467;p7">
            <a:extLst>
              <a:ext uri="{FF2B5EF4-FFF2-40B4-BE49-F238E27FC236}">
                <a16:creationId xmlns:a16="http://schemas.microsoft.com/office/drawing/2014/main" id="{8A9F271B-2F28-D1EB-E85A-1C5636B9192C}"/>
              </a:ext>
            </a:extLst>
          </p:cNvPr>
          <p:cNvSpPr/>
          <p:nvPr/>
        </p:nvSpPr>
        <p:spPr>
          <a:xfrm>
            <a:off x="8155994" y="2776685"/>
            <a:ext cx="579860" cy="512565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620E42-1A18-3842-DEF4-6F8372D4E79F}"/>
              </a:ext>
            </a:extLst>
          </p:cNvPr>
          <p:cNvCxnSpPr>
            <a:stCxn id="34" idx="6"/>
          </p:cNvCxnSpPr>
          <p:nvPr/>
        </p:nvCxnSpPr>
        <p:spPr>
          <a:xfrm flipV="1">
            <a:off x="5249551" y="3022950"/>
            <a:ext cx="303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EE8461-81B9-5798-AD3C-9DACAAABE72E}"/>
              </a:ext>
            </a:extLst>
          </p:cNvPr>
          <p:cNvCxnSpPr/>
          <p:nvPr/>
        </p:nvCxnSpPr>
        <p:spPr>
          <a:xfrm flipV="1">
            <a:off x="6186082" y="3020897"/>
            <a:ext cx="303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9477BF-6D34-A0E4-DC7F-74BA50D64499}"/>
              </a:ext>
            </a:extLst>
          </p:cNvPr>
          <p:cNvCxnSpPr>
            <a:cxnSpLocks/>
            <a:stCxn id="36" idx="6"/>
            <a:endCxn id="37" idx="2"/>
          </p:cNvCxnSpPr>
          <p:nvPr/>
        </p:nvCxnSpPr>
        <p:spPr>
          <a:xfrm>
            <a:off x="7083777" y="3022951"/>
            <a:ext cx="1072217" cy="10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Google Shape;466;p7">
            <a:extLst>
              <a:ext uri="{FF2B5EF4-FFF2-40B4-BE49-F238E27FC236}">
                <a16:creationId xmlns:a16="http://schemas.microsoft.com/office/drawing/2014/main" id="{606F2321-D607-623D-647B-4E25289A6FC4}"/>
              </a:ext>
            </a:extLst>
          </p:cNvPr>
          <p:cNvSpPr/>
          <p:nvPr/>
        </p:nvSpPr>
        <p:spPr>
          <a:xfrm>
            <a:off x="4638943" y="2118780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1050" b="1" dirty="0">
                <a:solidFill>
                  <a:schemeClr val="dk1"/>
                </a:solidFill>
              </a:rPr>
              <a:t>Day 2</a:t>
            </a:r>
            <a:endParaRPr sz="1050" dirty="0"/>
          </a:p>
        </p:txBody>
      </p:sp>
      <p:sp>
        <p:nvSpPr>
          <p:cNvPr id="49" name="Google Shape;466;p7">
            <a:extLst>
              <a:ext uri="{FF2B5EF4-FFF2-40B4-BE49-F238E27FC236}">
                <a16:creationId xmlns:a16="http://schemas.microsoft.com/office/drawing/2014/main" id="{98809948-6CE1-76A8-C592-3ED4EF084B19}"/>
              </a:ext>
            </a:extLst>
          </p:cNvPr>
          <p:cNvSpPr/>
          <p:nvPr/>
        </p:nvSpPr>
        <p:spPr>
          <a:xfrm>
            <a:off x="5561056" y="2118907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1050" b="1" dirty="0">
                <a:solidFill>
                  <a:schemeClr val="dk1"/>
                </a:solidFill>
              </a:rPr>
              <a:t>Day 3</a:t>
            </a:r>
            <a:endParaRPr sz="1050" dirty="0"/>
          </a:p>
        </p:txBody>
      </p:sp>
      <p:sp>
        <p:nvSpPr>
          <p:cNvPr id="50" name="Google Shape;466;p7">
            <a:extLst>
              <a:ext uri="{FF2B5EF4-FFF2-40B4-BE49-F238E27FC236}">
                <a16:creationId xmlns:a16="http://schemas.microsoft.com/office/drawing/2014/main" id="{FAF08C05-80EF-ED75-25FD-C6C83BBA5E74}"/>
              </a:ext>
            </a:extLst>
          </p:cNvPr>
          <p:cNvSpPr/>
          <p:nvPr/>
        </p:nvSpPr>
        <p:spPr>
          <a:xfrm>
            <a:off x="6461757" y="2112830"/>
            <a:ext cx="641356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1050" b="1" dirty="0">
                <a:solidFill>
                  <a:schemeClr val="dk1"/>
                </a:solidFill>
              </a:rPr>
              <a:t>Day 4</a:t>
            </a:r>
            <a:endParaRPr sz="1050" dirty="0"/>
          </a:p>
        </p:txBody>
      </p:sp>
      <p:sp>
        <p:nvSpPr>
          <p:cNvPr id="51" name="Google Shape;466;p7">
            <a:extLst>
              <a:ext uri="{FF2B5EF4-FFF2-40B4-BE49-F238E27FC236}">
                <a16:creationId xmlns:a16="http://schemas.microsoft.com/office/drawing/2014/main" id="{99C658B8-44A3-118E-9900-5B94756D5DB5}"/>
              </a:ext>
            </a:extLst>
          </p:cNvPr>
          <p:cNvSpPr/>
          <p:nvPr/>
        </p:nvSpPr>
        <p:spPr>
          <a:xfrm>
            <a:off x="7929240" y="2101527"/>
            <a:ext cx="1006845" cy="3899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2000" b="1" dirty="0">
                <a:solidFill>
                  <a:schemeClr val="dk1"/>
                </a:solidFill>
              </a:rPr>
              <a:t>Day 28</a:t>
            </a:r>
            <a:endParaRPr sz="20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135F221-B832-4FB3-23AE-8823AA87201B}"/>
              </a:ext>
            </a:extLst>
          </p:cNvPr>
          <p:cNvCxnSpPr>
            <a:stCxn id="34" idx="0"/>
            <a:endCxn id="48" idx="2"/>
          </p:cNvCxnSpPr>
          <p:nvPr/>
        </p:nvCxnSpPr>
        <p:spPr>
          <a:xfrm flipV="1">
            <a:off x="4959621" y="249027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DFA2F0-DD6A-E728-95EC-037FC2611A74}"/>
              </a:ext>
            </a:extLst>
          </p:cNvPr>
          <p:cNvCxnSpPr/>
          <p:nvPr/>
        </p:nvCxnSpPr>
        <p:spPr>
          <a:xfrm flipV="1">
            <a:off x="5881734" y="248432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178526F-224D-266C-8EC4-B1127B9D3A8E}"/>
              </a:ext>
            </a:extLst>
          </p:cNvPr>
          <p:cNvCxnSpPr/>
          <p:nvPr/>
        </p:nvCxnSpPr>
        <p:spPr>
          <a:xfrm flipV="1">
            <a:off x="6778482" y="248432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E4075E-166B-45D0-19D1-D70158321EDA}"/>
              </a:ext>
            </a:extLst>
          </p:cNvPr>
          <p:cNvCxnSpPr/>
          <p:nvPr/>
        </p:nvCxnSpPr>
        <p:spPr>
          <a:xfrm flipV="1">
            <a:off x="8434828" y="249442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2D3BB2B-6FCA-AD58-9AD1-AE74A2435751}"/>
              </a:ext>
            </a:extLst>
          </p:cNvPr>
          <p:cNvCxnSpPr/>
          <p:nvPr/>
        </p:nvCxnSpPr>
        <p:spPr>
          <a:xfrm flipV="1">
            <a:off x="4962812" y="326668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1DE9410-DC2E-717B-9831-29EB58806803}"/>
              </a:ext>
            </a:extLst>
          </p:cNvPr>
          <p:cNvCxnSpPr/>
          <p:nvPr/>
        </p:nvCxnSpPr>
        <p:spPr>
          <a:xfrm flipV="1">
            <a:off x="5899213" y="326668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6428E0-7E31-48BB-2909-8C1F626BAA1D}"/>
              </a:ext>
            </a:extLst>
          </p:cNvPr>
          <p:cNvCxnSpPr/>
          <p:nvPr/>
        </p:nvCxnSpPr>
        <p:spPr>
          <a:xfrm flipV="1">
            <a:off x="6795961" y="326668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11D8EC-FB6F-C66A-67E0-B51A6FA6990B}"/>
              </a:ext>
            </a:extLst>
          </p:cNvPr>
          <p:cNvCxnSpPr/>
          <p:nvPr/>
        </p:nvCxnSpPr>
        <p:spPr>
          <a:xfrm flipV="1">
            <a:off x="8460560" y="3266686"/>
            <a:ext cx="0" cy="27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3D1F556-BB33-E787-9EE1-94C63F8A3B36}"/>
              </a:ext>
            </a:extLst>
          </p:cNvPr>
          <p:cNvSpPr/>
          <p:nvPr/>
        </p:nvSpPr>
        <p:spPr>
          <a:xfrm>
            <a:off x="78584" y="1976911"/>
            <a:ext cx="3509282" cy="20870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Google Shape;465;p7">
            <a:extLst>
              <a:ext uri="{FF2B5EF4-FFF2-40B4-BE49-F238E27FC236}">
                <a16:creationId xmlns:a16="http://schemas.microsoft.com/office/drawing/2014/main" id="{B044F76C-A903-C731-C49C-2D1D02553D24}"/>
              </a:ext>
            </a:extLst>
          </p:cNvPr>
          <p:cNvSpPr/>
          <p:nvPr/>
        </p:nvSpPr>
        <p:spPr>
          <a:xfrm>
            <a:off x="2529238" y="3161784"/>
            <a:ext cx="962967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Predict Day 28 sales</a:t>
            </a:r>
            <a:endParaRPr sz="105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6F598271-7F7D-60C7-1151-06868F40BEB8}"/>
              </a:ext>
            </a:extLst>
          </p:cNvPr>
          <p:cNvSpPr/>
          <p:nvPr/>
        </p:nvSpPr>
        <p:spPr>
          <a:xfrm>
            <a:off x="145261" y="3161784"/>
            <a:ext cx="852006" cy="384043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Day 1 – 27 sales</a:t>
            </a:r>
            <a:endParaRPr sz="1050" dirty="0"/>
          </a:p>
        </p:txBody>
      </p:sp>
      <p:sp>
        <p:nvSpPr>
          <p:cNvPr id="6" name="Google Shape;467;p7">
            <a:extLst>
              <a:ext uri="{FF2B5EF4-FFF2-40B4-BE49-F238E27FC236}">
                <a16:creationId xmlns:a16="http://schemas.microsoft.com/office/drawing/2014/main" id="{1E62E7C1-1E77-0FFF-569C-4DCEC42A9C09}"/>
              </a:ext>
            </a:extLst>
          </p:cNvPr>
          <p:cNvSpPr/>
          <p:nvPr/>
        </p:nvSpPr>
        <p:spPr>
          <a:xfrm>
            <a:off x="1254601" y="2897532"/>
            <a:ext cx="916918" cy="923400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Hidden State</a:t>
            </a:r>
            <a:endParaRPr/>
          </a:p>
        </p:txBody>
      </p:sp>
      <p:cxnSp>
        <p:nvCxnSpPr>
          <p:cNvPr id="7" name="Google Shape;468;p7">
            <a:extLst>
              <a:ext uri="{FF2B5EF4-FFF2-40B4-BE49-F238E27FC236}">
                <a16:creationId xmlns:a16="http://schemas.microsoft.com/office/drawing/2014/main" id="{AB85B919-A29B-7CFD-07FE-E0E077497655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997267" y="3353806"/>
            <a:ext cx="257334" cy="5426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469;p7">
            <a:extLst>
              <a:ext uri="{FF2B5EF4-FFF2-40B4-BE49-F238E27FC236}">
                <a16:creationId xmlns:a16="http://schemas.microsoft.com/office/drawing/2014/main" id="{B6F124A3-D8F1-A214-80C1-E0F16BE0A495}"/>
              </a:ext>
            </a:extLst>
          </p:cNvPr>
          <p:cNvCxnSpPr>
            <a:cxnSpLocks/>
            <a:stCxn id="6" idx="6"/>
            <a:endCxn id="4" idx="1"/>
          </p:cNvCxnSpPr>
          <p:nvPr/>
        </p:nvCxnSpPr>
        <p:spPr>
          <a:xfrm flipV="1">
            <a:off x="2171519" y="3347532"/>
            <a:ext cx="357719" cy="11700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470;p7">
            <a:extLst>
              <a:ext uri="{FF2B5EF4-FFF2-40B4-BE49-F238E27FC236}">
                <a16:creationId xmlns:a16="http://schemas.microsoft.com/office/drawing/2014/main" id="{5D4EFE31-4750-F97E-3670-14904339ECC0}"/>
              </a:ext>
            </a:extLst>
          </p:cNvPr>
          <p:cNvSpPr txBox="1"/>
          <p:nvPr/>
        </p:nvSpPr>
        <p:spPr>
          <a:xfrm>
            <a:off x="1254601" y="2142610"/>
            <a:ext cx="916918" cy="64629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Select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Forget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Ignore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471;p7">
            <a:extLst>
              <a:ext uri="{FF2B5EF4-FFF2-40B4-BE49-F238E27FC236}">
                <a16:creationId xmlns:a16="http://schemas.microsoft.com/office/drawing/2014/main" id="{00ABB829-2759-AC88-65FD-A1DBF83B86DD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2171519" y="2465755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" name="Google Shape;472;p7">
            <a:extLst>
              <a:ext uri="{FF2B5EF4-FFF2-40B4-BE49-F238E27FC236}">
                <a16:creationId xmlns:a16="http://schemas.microsoft.com/office/drawing/2014/main" id="{054CCA11-52A2-EAE9-E642-4688B4400EE6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 flipV="1">
            <a:off x="1254601" y="2465754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1F451D1-2021-7D47-C783-4F7326D66047}"/>
              </a:ext>
            </a:extLst>
          </p:cNvPr>
          <p:cNvSpPr/>
          <p:nvPr/>
        </p:nvSpPr>
        <p:spPr>
          <a:xfrm>
            <a:off x="7265750" y="3650729"/>
            <a:ext cx="126000" cy="12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4D950D-0C3E-659A-7333-9DB97B5AC778}"/>
              </a:ext>
            </a:extLst>
          </p:cNvPr>
          <p:cNvSpPr/>
          <p:nvPr/>
        </p:nvSpPr>
        <p:spPr>
          <a:xfrm>
            <a:off x="7572485" y="3650729"/>
            <a:ext cx="126000" cy="12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A3B4CB9-997A-81B9-60CB-1ABF6A03D815}"/>
              </a:ext>
            </a:extLst>
          </p:cNvPr>
          <p:cNvSpPr/>
          <p:nvPr/>
        </p:nvSpPr>
        <p:spPr>
          <a:xfrm>
            <a:off x="7879220" y="3650729"/>
            <a:ext cx="126000" cy="12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194D6F-BE19-8F47-A29B-4F206034AD41}"/>
              </a:ext>
            </a:extLst>
          </p:cNvPr>
          <p:cNvCxnSpPr/>
          <p:nvPr/>
        </p:nvCxnSpPr>
        <p:spPr>
          <a:xfrm>
            <a:off x="3686175" y="2868316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080948-E426-2A3E-CFD6-C31DE48C3E68}"/>
              </a:ext>
            </a:extLst>
          </p:cNvPr>
          <p:cNvCxnSpPr/>
          <p:nvPr/>
        </p:nvCxnSpPr>
        <p:spPr>
          <a:xfrm>
            <a:off x="3686175" y="3056435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07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 animBg="1"/>
      <p:bldP spid="27" grpId="0" animBg="1"/>
      <p:bldP spid="28" grpId="0" animBg="1"/>
      <p:bldP spid="34" grpId="0" animBg="1"/>
      <p:bldP spid="35" grpId="0" animBg="1"/>
      <p:bldP spid="36" grpId="0" animBg="1"/>
      <p:bldP spid="37" grpId="0" animBg="1"/>
      <p:bldP spid="48" grpId="0" animBg="1"/>
      <p:bldP spid="49" grpId="0" animBg="1"/>
      <p:bldP spid="50" grpId="0" animBg="1"/>
      <p:bldP spid="51" grpId="0" animBg="1"/>
      <p:bldP spid="3" grpId="0" animBg="1"/>
      <p:bldP spid="4" grpId="0" animBg="1"/>
      <p:bldP spid="5" grpId="0" animBg="1"/>
      <p:bldP spid="6" grpId="0" animBg="1"/>
      <p:bldP spid="9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3800" b="1" dirty="0">
                <a:solidFill>
                  <a:srgbClr val="E69138"/>
                </a:solidFill>
              </a:rPr>
              <a:t>Multivariate LSTM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65;p7">
            <a:extLst>
              <a:ext uri="{FF2B5EF4-FFF2-40B4-BE49-F238E27FC236}">
                <a16:creationId xmlns:a16="http://schemas.microsoft.com/office/drawing/2014/main" id="{B044F76C-A903-C731-C49C-2D1D02553D24}"/>
              </a:ext>
            </a:extLst>
          </p:cNvPr>
          <p:cNvSpPr/>
          <p:nvPr/>
        </p:nvSpPr>
        <p:spPr>
          <a:xfrm>
            <a:off x="7297874" y="3282180"/>
            <a:ext cx="982571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Predict Day 28 sales</a:t>
            </a:r>
            <a:endParaRPr sz="105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6F598271-7F7D-60C7-1151-06868F40BEB8}"/>
              </a:ext>
            </a:extLst>
          </p:cNvPr>
          <p:cNvSpPr/>
          <p:nvPr/>
        </p:nvSpPr>
        <p:spPr>
          <a:xfrm>
            <a:off x="4916156" y="3282180"/>
            <a:ext cx="869351" cy="384043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Input</a:t>
            </a:r>
            <a:endParaRPr sz="1050" dirty="0"/>
          </a:p>
        </p:txBody>
      </p:sp>
      <p:sp>
        <p:nvSpPr>
          <p:cNvPr id="6" name="Google Shape;467;p7">
            <a:extLst>
              <a:ext uri="{FF2B5EF4-FFF2-40B4-BE49-F238E27FC236}">
                <a16:creationId xmlns:a16="http://schemas.microsoft.com/office/drawing/2014/main" id="{1E62E7C1-1E77-0FFF-569C-4DCEC42A9C09}"/>
              </a:ext>
            </a:extLst>
          </p:cNvPr>
          <p:cNvSpPr/>
          <p:nvPr/>
        </p:nvSpPr>
        <p:spPr>
          <a:xfrm>
            <a:off x="6024175" y="3017928"/>
            <a:ext cx="935584" cy="923400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Hidden State</a:t>
            </a:r>
            <a:endParaRPr/>
          </a:p>
        </p:txBody>
      </p:sp>
      <p:cxnSp>
        <p:nvCxnSpPr>
          <p:cNvPr id="7" name="Google Shape;468;p7">
            <a:extLst>
              <a:ext uri="{FF2B5EF4-FFF2-40B4-BE49-F238E27FC236}">
                <a16:creationId xmlns:a16="http://schemas.microsoft.com/office/drawing/2014/main" id="{AB85B919-A29B-7CFD-07FE-E0E077497655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5785507" y="3474202"/>
            <a:ext cx="238668" cy="5426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469;p7">
            <a:extLst>
              <a:ext uri="{FF2B5EF4-FFF2-40B4-BE49-F238E27FC236}">
                <a16:creationId xmlns:a16="http://schemas.microsoft.com/office/drawing/2014/main" id="{B6F124A3-D8F1-A214-80C1-E0F16BE0A495}"/>
              </a:ext>
            </a:extLst>
          </p:cNvPr>
          <p:cNvCxnSpPr>
            <a:cxnSpLocks/>
            <a:stCxn id="6" idx="6"/>
            <a:endCxn id="4" idx="1"/>
          </p:cNvCxnSpPr>
          <p:nvPr/>
        </p:nvCxnSpPr>
        <p:spPr>
          <a:xfrm flipV="1">
            <a:off x="6959759" y="3467928"/>
            <a:ext cx="338115" cy="11700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470;p7">
            <a:extLst>
              <a:ext uri="{FF2B5EF4-FFF2-40B4-BE49-F238E27FC236}">
                <a16:creationId xmlns:a16="http://schemas.microsoft.com/office/drawing/2014/main" id="{5D4EFE31-4750-F97E-3670-14904339ECC0}"/>
              </a:ext>
            </a:extLst>
          </p:cNvPr>
          <p:cNvSpPr txBox="1"/>
          <p:nvPr/>
        </p:nvSpPr>
        <p:spPr>
          <a:xfrm>
            <a:off x="6024175" y="2263006"/>
            <a:ext cx="935584" cy="64629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Select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Forget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Ignore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471;p7">
            <a:extLst>
              <a:ext uri="{FF2B5EF4-FFF2-40B4-BE49-F238E27FC236}">
                <a16:creationId xmlns:a16="http://schemas.microsoft.com/office/drawing/2014/main" id="{00ABB829-2759-AC88-65FD-A1DBF83B86DD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6959759" y="2586151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" name="Google Shape;472;p7">
            <a:extLst>
              <a:ext uri="{FF2B5EF4-FFF2-40B4-BE49-F238E27FC236}">
                <a16:creationId xmlns:a16="http://schemas.microsoft.com/office/drawing/2014/main" id="{054CCA11-52A2-EAE9-E642-4688B4400EE6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 flipV="1">
            <a:off x="6024175" y="2586150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2E952115-CFDB-7548-5519-2E9ED6FF2E0B}"/>
              </a:ext>
            </a:extLst>
          </p:cNvPr>
          <p:cNvSpPr/>
          <p:nvPr/>
        </p:nvSpPr>
        <p:spPr>
          <a:xfrm>
            <a:off x="1460990" y="1992954"/>
            <a:ext cx="2680413" cy="2950721"/>
          </a:xfrm>
          <a:prstGeom prst="bracketPair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Google Shape;466;p7">
            <a:extLst>
              <a:ext uri="{FF2B5EF4-FFF2-40B4-BE49-F238E27FC236}">
                <a16:creationId xmlns:a16="http://schemas.microsoft.com/office/drawing/2014/main" id="{F0385308-3245-1571-737E-670BC3DC9840}"/>
              </a:ext>
            </a:extLst>
          </p:cNvPr>
          <p:cNvSpPr/>
          <p:nvPr/>
        </p:nvSpPr>
        <p:spPr>
          <a:xfrm>
            <a:off x="1830687" y="1773322"/>
            <a:ext cx="1953742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Input Stack</a:t>
            </a:r>
            <a:endParaRPr sz="2000" dirty="0"/>
          </a:p>
        </p:txBody>
      </p:sp>
      <p:sp>
        <p:nvSpPr>
          <p:cNvPr id="18" name="Google Shape;466;p7">
            <a:extLst>
              <a:ext uri="{FF2B5EF4-FFF2-40B4-BE49-F238E27FC236}">
                <a16:creationId xmlns:a16="http://schemas.microsoft.com/office/drawing/2014/main" id="{829A39AC-F5D8-9574-3D06-EB238CCED6AC}"/>
              </a:ext>
            </a:extLst>
          </p:cNvPr>
          <p:cNvSpPr/>
          <p:nvPr/>
        </p:nvSpPr>
        <p:spPr>
          <a:xfrm>
            <a:off x="1621736" y="2265304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Sales</a:t>
            </a:r>
            <a:endParaRPr sz="2000" dirty="0"/>
          </a:p>
        </p:txBody>
      </p:sp>
      <p:sp>
        <p:nvSpPr>
          <p:cNvPr id="22" name="Google Shape;466;p7">
            <a:extLst>
              <a:ext uri="{FF2B5EF4-FFF2-40B4-BE49-F238E27FC236}">
                <a16:creationId xmlns:a16="http://schemas.microsoft.com/office/drawing/2014/main" id="{A9B2C1B4-EEC3-57A2-41FF-85DFE252686D}"/>
              </a:ext>
            </a:extLst>
          </p:cNvPr>
          <p:cNvSpPr/>
          <p:nvPr/>
        </p:nvSpPr>
        <p:spPr>
          <a:xfrm>
            <a:off x="1621737" y="2757286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Var 1</a:t>
            </a:r>
            <a:endParaRPr sz="2000" dirty="0"/>
          </a:p>
        </p:txBody>
      </p:sp>
      <p:sp>
        <p:nvSpPr>
          <p:cNvPr id="23" name="Google Shape;466;p7">
            <a:extLst>
              <a:ext uri="{FF2B5EF4-FFF2-40B4-BE49-F238E27FC236}">
                <a16:creationId xmlns:a16="http://schemas.microsoft.com/office/drawing/2014/main" id="{B25D8130-63F6-4407-EE0F-AAA4A7733BA3}"/>
              </a:ext>
            </a:extLst>
          </p:cNvPr>
          <p:cNvSpPr/>
          <p:nvPr/>
        </p:nvSpPr>
        <p:spPr>
          <a:xfrm>
            <a:off x="1621737" y="3270135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Var 2</a:t>
            </a:r>
            <a:endParaRPr sz="20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339CBD-1AD5-1C44-FEAD-07B622F165D1}"/>
              </a:ext>
            </a:extLst>
          </p:cNvPr>
          <p:cNvCxnSpPr>
            <a:cxnSpLocks/>
            <a:stCxn id="16" idx="3"/>
            <a:endCxn id="5" idx="1"/>
          </p:cNvCxnSpPr>
          <p:nvPr/>
        </p:nvCxnSpPr>
        <p:spPr>
          <a:xfrm>
            <a:off x="4141403" y="3468315"/>
            <a:ext cx="774753" cy="58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1FD43614-9B30-139D-C2E2-E5FC16383322}"/>
              </a:ext>
            </a:extLst>
          </p:cNvPr>
          <p:cNvSpPr/>
          <p:nvPr/>
        </p:nvSpPr>
        <p:spPr>
          <a:xfrm>
            <a:off x="2738196" y="381886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B7ADF23-B737-0D59-B4C6-ECD495371AB7}"/>
              </a:ext>
            </a:extLst>
          </p:cNvPr>
          <p:cNvSpPr/>
          <p:nvPr/>
        </p:nvSpPr>
        <p:spPr>
          <a:xfrm>
            <a:off x="2738196" y="396739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4E750DA-5164-AC11-A115-9CD1DB9B9E96}"/>
              </a:ext>
            </a:extLst>
          </p:cNvPr>
          <p:cNvSpPr/>
          <p:nvPr/>
        </p:nvSpPr>
        <p:spPr>
          <a:xfrm>
            <a:off x="2738196" y="411783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Google Shape;466;p7">
            <a:extLst>
              <a:ext uri="{FF2B5EF4-FFF2-40B4-BE49-F238E27FC236}">
                <a16:creationId xmlns:a16="http://schemas.microsoft.com/office/drawing/2014/main" id="{8C6F0560-0AE9-66FA-B54E-33DB2843C5E1}"/>
              </a:ext>
            </a:extLst>
          </p:cNvPr>
          <p:cNvSpPr/>
          <p:nvPr/>
        </p:nvSpPr>
        <p:spPr>
          <a:xfrm>
            <a:off x="1619373" y="4343222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Var n</a:t>
            </a:r>
            <a:endParaRPr sz="2000" dirty="0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F969FD6-8A5C-8F2F-4C56-DD06B0BAFCC7}"/>
              </a:ext>
            </a:extLst>
          </p:cNvPr>
          <p:cNvSpPr txBox="1"/>
          <p:nvPr/>
        </p:nvSpPr>
        <p:spPr>
          <a:xfrm>
            <a:off x="247338" y="1221342"/>
            <a:ext cx="401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800" b="1" dirty="0"/>
              <a:t>Using other data as input variables</a:t>
            </a:r>
          </a:p>
        </p:txBody>
      </p:sp>
    </p:spTree>
    <p:extLst>
      <p:ext uri="{BB962C8B-B14F-4D97-AF65-F5344CB8AC3E}">
        <p14:creationId xmlns:p14="http://schemas.microsoft.com/office/powerpoint/2010/main" val="226668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2" grpId="0" animBg="1"/>
      <p:bldP spid="23" grpId="0" animBg="1"/>
      <p:bldP spid="52" grpId="0" animBg="1"/>
      <p:bldP spid="54" grpId="0" animBg="1"/>
      <p:bldP spid="62" grpId="0" animBg="1"/>
      <p:bldP spid="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3800" b="1" dirty="0">
                <a:solidFill>
                  <a:srgbClr val="E69138"/>
                </a:solidFill>
              </a:rPr>
              <a:t>Multivariate LSTM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65;p7">
            <a:extLst>
              <a:ext uri="{FF2B5EF4-FFF2-40B4-BE49-F238E27FC236}">
                <a16:creationId xmlns:a16="http://schemas.microsoft.com/office/drawing/2014/main" id="{B044F76C-A903-C731-C49C-2D1D02553D24}"/>
              </a:ext>
            </a:extLst>
          </p:cNvPr>
          <p:cNvSpPr/>
          <p:nvPr/>
        </p:nvSpPr>
        <p:spPr>
          <a:xfrm>
            <a:off x="7215605" y="3127440"/>
            <a:ext cx="982571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Predict Day 28 sales</a:t>
            </a:r>
            <a:endParaRPr sz="105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6F598271-7F7D-60C7-1151-06868F40BEB8}"/>
              </a:ext>
            </a:extLst>
          </p:cNvPr>
          <p:cNvSpPr/>
          <p:nvPr/>
        </p:nvSpPr>
        <p:spPr>
          <a:xfrm>
            <a:off x="4833887" y="3127440"/>
            <a:ext cx="869351" cy="384043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Input</a:t>
            </a:r>
            <a:endParaRPr sz="1050" dirty="0"/>
          </a:p>
        </p:txBody>
      </p:sp>
      <p:sp>
        <p:nvSpPr>
          <p:cNvPr id="6" name="Google Shape;467;p7">
            <a:extLst>
              <a:ext uri="{FF2B5EF4-FFF2-40B4-BE49-F238E27FC236}">
                <a16:creationId xmlns:a16="http://schemas.microsoft.com/office/drawing/2014/main" id="{1E62E7C1-1E77-0FFF-569C-4DCEC42A9C09}"/>
              </a:ext>
            </a:extLst>
          </p:cNvPr>
          <p:cNvSpPr/>
          <p:nvPr/>
        </p:nvSpPr>
        <p:spPr>
          <a:xfrm>
            <a:off x="5941906" y="2863188"/>
            <a:ext cx="935584" cy="923400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rgbClr val="217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Hidden State</a:t>
            </a:r>
            <a:endParaRPr/>
          </a:p>
        </p:txBody>
      </p:sp>
      <p:cxnSp>
        <p:nvCxnSpPr>
          <p:cNvPr id="7" name="Google Shape;468;p7">
            <a:extLst>
              <a:ext uri="{FF2B5EF4-FFF2-40B4-BE49-F238E27FC236}">
                <a16:creationId xmlns:a16="http://schemas.microsoft.com/office/drawing/2014/main" id="{AB85B919-A29B-7CFD-07FE-E0E077497655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5703238" y="3319462"/>
            <a:ext cx="238668" cy="5426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469;p7">
            <a:extLst>
              <a:ext uri="{FF2B5EF4-FFF2-40B4-BE49-F238E27FC236}">
                <a16:creationId xmlns:a16="http://schemas.microsoft.com/office/drawing/2014/main" id="{B6F124A3-D8F1-A214-80C1-E0F16BE0A495}"/>
              </a:ext>
            </a:extLst>
          </p:cNvPr>
          <p:cNvCxnSpPr>
            <a:cxnSpLocks/>
            <a:stCxn id="6" idx="6"/>
            <a:endCxn id="4" idx="1"/>
          </p:cNvCxnSpPr>
          <p:nvPr/>
        </p:nvCxnSpPr>
        <p:spPr>
          <a:xfrm flipV="1">
            <a:off x="6877490" y="3313188"/>
            <a:ext cx="338115" cy="11700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470;p7">
            <a:extLst>
              <a:ext uri="{FF2B5EF4-FFF2-40B4-BE49-F238E27FC236}">
                <a16:creationId xmlns:a16="http://schemas.microsoft.com/office/drawing/2014/main" id="{5D4EFE31-4750-F97E-3670-14904339ECC0}"/>
              </a:ext>
            </a:extLst>
          </p:cNvPr>
          <p:cNvSpPr txBox="1"/>
          <p:nvPr/>
        </p:nvSpPr>
        <p:spPr>
          <a:xfrm>
            <a:off x="5941906" y="2108266"/>
            <a:ext cx="935584" cy="64629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Select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Forget</a:t>
            </a:r>
            <a:endParaRPr sz="105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Ignore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471;p7">
            <a:extLst>
              <a:ext uri="{FF2B5EF4-FFF2-40B4-BE49-F238E27FC236}">
                <a16:creationId xmlns:a16="http://schemas.microsoft.com/office/drawing/2014/main" id="{00ABB829-2759-AC88-65FD-A1DBF83B86DD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6877490" y="2431411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" name="Google Shape;472;p7">
            <a:extLst>
              <a:ext uri="{FF2B5EF4-FFF2-40B4-BE49-F238E27FC236}">
                <a16:creationId xmlns:a16="http://schemas.microsoft.com/office/drawing/2014/main" id="{054CCA11-52A2-EAE9-E642-4688B4400EE6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 flipV="1">
            <a:off x="5941906" y="2431410"/>
            <a:ext cx="12700" cy="89347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2E952115-CFDB-7548-5519-2E9ED6FF2E0B}"/>
              </a:ext>
            </a:extLst>
          </p:cNvPr>
          <p:cNvSpPr/>
          <p:nvPr/>
        </p:nvSpPr>
        <p:spPr>
          <a:xfrm>
            <a:off x="1057270" y="2162152"/>
            <a:ext cx="2680413" cy="2309836"/>
          </a:xfrm>
          <a:prstGeom prst="bracketPair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Google Shape;466;p7">
            <a:extLst>
              <a:ext uri="{FF2B5EF4-FFF2-40B4-BE49-F238E27FC236}">
                <a16:creationId xmlns:a16="http://schemas.microsoft.com/office/drawing/2014/main" id="{F0385308-3245-1571-737E-670BC3DC9840}"/>
              </a:ext>
            </a:extLst>
          </p:cNvPr>
          <p:cNvSpPr/>
          <p:nvPr/>
        </p:nvSpPr>
        <p:spPr>
          <a:xfrm>
            <a:off x="1420605" y="1849698"/>
            <a:ext cx="1953742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Input Stack</a:t>
            </a:r>
            <a:endParaRPr sz="2000" dirty="0"/>
          </a:p>
        </p:txBody>
      </p:sp>
      <p:sp>
        <p:nvSpPr>
          <p:cNvPr id="18" name="Google Shape;466;p7">
            <a:extLst>
              <a:ext uri="{FF2B5EF4-FFF2-40B4-BE49-F238E27FC236}">
                <a16:creationId xmlns:a16="http://schemas.microsoft.com/office/drawing/2014/main" id="{829A39AC-F5D8-9574-3D06-EB238CCED6AC}"/>
              </a:ext>
            </a:extLst>
          </p:cNvPr>
          <p:cNvSpPr/>
          <p:nvPr/>
        </p:nvSpPr>
        <p:spPr>
          <a:xfrm>
            <a:off x="1211654" y="2341680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Sales</a:t>
            </a:r>
            <a:endParaRPr sz="2000" dirty="0"/>
          </a:p>
        </p:txBody>
      </p:sp>
      <p:sp>
        <p:nvSpPr>
          <p:cNvPr id="22" name="Google Shape;466;p7">
            <a:extLst>
              <a:ext uri="{FF2B5EF4-FFF2-40B4-BE49-F238E27FC236}">
                <a16:creationId xmlns:a16="http://schemas.microsoft.com/office/drawing/2014/main" id="{A9B2C1B4-EEC3-57A2-41FF-85DFE252686D}"/>
              </a:ext>
            </a:extLst>
          </p:cNvPr>
          <p:cNvSpPr/>
          <p:nvPr/>
        </p:nvSpPr>
        <p:spPr>
          <a:xfrm>
            <a:off x="1211655" y="2833662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Dates</a:t>
            </a:r>
            <a:endParaRPr sz="2000" dirty="0"/>
          </a:p>
        </p:txBody>
      </p:sp>
      <p:sp>
        <p:nvSpPr>
          <p:cNvPr id="23" name="Google Shape;466;p7">
            <a:extLst>
              <a:ext uri="{FF2B5EF4-FFF2-40B4-BE49-F238E27FC236}">
                <a16:creationId xmlns:a16="http://schemas.microsoft.com/office/drawing/2014/main" id="{B25D8130-63F6-4407-EE0F-AAA4A7733BA3}"/>
              </a:ext>
            </a:extLst>
          </p:cNvPr>
          <p:cNvSpPr/>
          <p:nvPr/>
        </p:nvSpPr>
        <p:spPr>
          <a:xfrm>
            <a:off x="1211655" y="3346511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Events</a:t>
            </a:r>
            <a:endParaRPr sz="2000" dirty="0"/>
          </a:p>
        </p:txBody>
      </p:sp>
      <p:sp>
        <p:nvSpPr>
          <p:cNvPr id="24" name="Google Shape;466;p7">
            <a:extLst>
              <a:ext uri="{FF2B5EF4-FFF2-40B4-BE49-F238E27FC236}">
                <a16:creationId xmlns:a16="http://schemas.microsoft.com/office/drawing/2014/main" id="{C4843128-32B7-68E6-5052-081F3813ACD2}"/>
              </a:ext>
            </a:extLst>
          </p:cNvPr>
          <p:cNvSpPr/>
          <p:nvPr/>
        </p:nvSpPr>
        <p:spPr>
          <a:xfrm>
            <a:off x="1211654" y="3859360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 – 27 SNAP</a:t>
            </a:r>
            <a:endParaRPr sz="20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339CBD-1AD5-1C44-FEAD-07B622F165D1}"/>
              </a:ext>
            </a:extLst>
          </p:cNvPr>
          <p:cNvCxnSpPr>
            <a:cxnSpLocks/>
            <a:stCxn id="16" idx="3"/>
            <a:endCxn id="5" idx="1"/>
          </p:cNvCxnSpPr>
          <p:nvPr/>
        </p:nvCxnSpPr>
        <p:spPr>
          <a:xfrm>
            <a:off x="3737683" y="3317070"/>
            <a:ext cx="1096204" cy="2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8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24" cy="18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14</a:t>
            </a:fld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3800" b="1" dirty="0">
                <a:solidFill>
                  <a:srgbClr val="E69138"/>
                </a:solidFill>
              </a:rPr>
              <a:t>Multivariate LSTM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65;p7">
            <a:extLst>
              <a:ext uri="{FF2B5EF4-FFF2-40B4-BE49-F238E27FC236}">
                <a16:creationId xmlns:a16="http://schemas.microsoft.com/office/drawing/2014/main" id="{B044F76C-A903-C731-C49C-2D1D02553D24}"/>
              </a:ext>
            </a:extLst>
          </p:cNvPr>
          <p:cNvSpPr/>
          <p:nvPr/>
        </p:nvSpPr>
        <p:spPr>
          <a:xfrm>
            <a:off x="3293310" y="1888168"/>
            <a:ext cx="982571" cy="37149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Day 31</a:t>
            </a:r>
            <a:endParaRPr sz="105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6F598271-7F7D-60C7-1151-06868F40BEB8}"/>
              </a:ext>
            </a:extLst>
          </p:cNvPr>
          <p:cNvSpPr/>
          <p:nvPr/>
        </p:nvSpPr>
        <p:spPr>
          <a:xfrm>
            <a:off x="497304" y="1875621"/>
            <a:ext cx="1147281" cy="384043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Days 1 - 30</a:t>
            </a:r>
            <a:endParaRPr sz="1050" dirty="0"/>
          </a:p>
        </p:txBody>
      </p:sp>
      <p:cxnSp>
        <p:nvCxnSpPr>
          <p:cNvPr id="7" name="Google Shape;468;p7">
            <a:extLst>
              <a:ext uri="{FF2B5EF4-FFF2-40B4-BE49-F238E27FC236}">
                <a16:creationId xmlns:a16="http://schemas.microsoft.com/office/drawing/2014/main" id="{AB85B919-A29B-7CFD-07FE-E0E077497655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644585" y="2067642"/>
            <a:ext cx="391068" cy="1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469;p7">
            <a:extLst>
              <a:ext uri="{FF2B5EF4-FFF2-40B4-BE49-F238E27FC236}">
                <a16:creationId xmlns:a16="http://schemas.microsoft.com/office/drawing/2014/main" id="{B6F124A3-D8F1-A214-80C1-E0F16BE0A495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971237" y="2067642"/>
            <a:ext cx="322073" cy="6274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" name="Google Shape;465;p7">
            <a:extLst>
              <a:ext uri="{FF2B5EF4-FFF2-40B4-BE49-F238E27FC236}">
                <a16:creationId xmlns:a16="http://schemas.microsoft.com/office/drawing/2014/main" id="{666D1D0E-D98C-67DA-1482-C80CFB7D29A9}"/>
              </a:ext>
            </a:extLst>
          </p:cNvPr>
          <p:cNvSpPr/>
          <p:nvPr/>
        </p:nvSpPr>
        <p:spPr>
          <a:xfrm>
            <a:off x="497304" y="2868285"/>
            <a:ext cx="1147282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Day 2 - 31</a:t>
            </a:r>
            <a:endParaRPr sz="10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CDBCA0-DE90-64FD-94D6-ED5190767F40}"/>
              </a:ext>
            </a:extLst>
          </p:cNvPr>
          <p:cNvSpPr/>
          <p:nvPr/>
        </p:nvSpPr>
        <p:spPr>
          <a:xfrm>
            <a:off x="2067415" y="1836493"/>
            <a:ext cx="845658" cy="461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Model</a:t>
            </a:r>
          </a:p>
        </p:txBody>
      </p:sp>
      <p:sp>
        <p:nvSpPr>
          <p:cNvPr id="29" name="Google Shape;465;p7">
            <a:extLst>
              <a:ext uri="{FF2B5EF4-FFF2-40B4-BE49-F238E27FC236}">
                <a16:creationId xmlns:a16="http://schemas.microsoft.com/office/drawing/2014/main" id="{7153705F-E9D3-0192-087E-565B5108118F}"/>
              </a:ext>
            </a:extLst>
          </p:cNvPr>
          <p:cNvSpPr/>
          <p:nvPr/>
        </p:nvSpPr>
        <p:spPr>
          <a:xfrm>
            <a:off x="3293310" y="2861049"/>
            <a:ext cx="982571" cy="37149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Day 32</a:t>
            </a:r>
            <a:endParaRPr sz="1050" dirty="0"/>
          </a:p>
        </p:txBody>
      </p:sp>
      <p:cxnSp>
        <p:nvCxnSpPr>
          <p:cNvPr id="30" name="Google Shape;468;p7">
            <a:extLst>
              <a:ext uri="{FF2B5EF4-FFF2-40B4-BE49-F238E27FC236}">
                <a16:creationId xmlns:a16="http://schemas.microsoft.com/office/drawing/2014/main" id="{8FA6CCFD-2201-DFAB-D38D-35DE7E4CFE97}"/>
              </a:ext>
            </a:extLst>
          </p:cNvPr>
          <p:cNvCxnSpPr>
            <a:cxnSpLocks/>
          </p:cNvCxnSpPr>
          <p:nvPr/>
        </p:nvCxnSpPr>
        <p:spPr>
          <a:xfrm flipV="1">
            <a:off x="1644585" y="3040523"/>
            <a:ext cx="391068" cy="1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469;p7">
            <a:extLst>
              <a:ext uri="{FF2B5EF4-FFF2-40B4-BE49-F238E27FC236}">
                <a16:creationId xmlns:a16="http://schemas.microsoft.com/office/drawing/2014/main" id="{997EBCE1-2B89-FC06-AD51-675BCDC685AE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971237" y="3040523"/>
            <a:ext cx="322073" cy="6274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57042D1-650A-6925-062C-F4D9E4084319}"/>
              </a:ext>
            </a:extLst>
          </p:cNvPr>
          <p:cNvSpPr/>
          <p:nvPr/>
        </p:nvSpPr>
        <p:spPr>
          <a:xfrm>
            <a:off x="2067415" y="2809374"/>
            <a:ext cx="845658" cy="461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Model</a:t>
            </a:r>
          </a:p>
        </p:txBody>
      </p:sp>
      <p:sp>
        <p:nvSpPr>
          <p:cNvPr id="34" name="Google Shape;465;p7">
            <a:extLst>
              <a:ext uri="{FF2B5EF4-FFF2-40B4-BE49-F238E27FC236}">
                <a16:creationId xmlns:a16="http://schemas.microsoft.com/office/drawing/2014/main" id="{C548E815-4BAD-F193-96C7-B5B78067EC65}"/>
              </a:ext>
            </a:extLst>
          </p:cNvPr>
          <p:cNvSpPr/>
          <p:nvPr/>
        </p:nvSpPr>
        <p:spPr>
          <a:xfrm>
            <a:off x="3293310" y="3785564"/>
            <a:ext cx="982571" cy="37149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Day 33</a:t>
            </a:r>
            <a:endParaRPr sz="1050" dirty="0"/>
          </a:p>
        </p:txBody>
      </p:sp>
      <p:cxnSp>
        <p:nvCxnSpPr>
          <p:cNvPr id="35" name="Google Shape;468;p7">
            <a:extLst>
              <a:ext uri="{FF2B5EF4-FFF2-40B4-BE49-F238E27FC236}">
                <a16:creationId xmlns:a16="http://schemas.microsoft.com/office/drawing/2014/main" id="{FD9CB26C-9A86-356F-D734-B8D380F54EDE}"/>
              </a:ext>
            </a:extLst>
          </p:cNvPr>
          <p:cNvCxnSpPr>
            <a:cxnSpLocks/>
          </p:cNvCxnSpPr>
          <p:nvPr/>
        </p:nvCxnSpPr>
        <p:spPr>
          <a:xfrm flipV="1">
            <a:off x="1644585" y="3965038"/>
            <a:ext cx="391068" cy="1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" name="Google Shape;469;p7">
            <a:extLst>
              <a:ext uri="{FF2B5EF4-FFF2-40B4-BE49-F238E27FC236}">
                <a16:creationId xmlns:a16="http://schemas.microsoft.com/office/drawing/2014/main" id="{084FB0B8-5E61-D656-D9ED-134CE8409482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2971237" y="3965038"/>
            <a:ext cx="322073" cy="6274"/>
          </a:xfrm>
          <a:prstGeom prst="straightConnector1">
            <a:avLst/>
          </a:prstGeom>
          <a:noFill/>
          <a:ln w="9525" cap="flat" cmpd="sng">
            <a:solidFill>
              <a:srgbClr val="4F20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E44F954-DE81-111D-F6F8-8C8DF400EDE7}"/>
              </a:ext>
            </a:extLst>
          </p:cNvPr>
          <p:cNvSpPr/>
          <p:nvPr/>
        </p:nvSpPr>
        <p:spPr>
          <a:xfrm>
            <a:off x="2067415" y="3733889"/>
            <a:ext cx="845658" cy="461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Model</a:t>
            </a:r>
          </a:p>
        </p:txBody>
      </p:sp>
      <p:sp>
        <p:nvSpPr>
          <p:cNvPr id="38" name="Google Shape;465;p7">
            <a:extLst>
              <a:ext uri="{FF2B5EF4-FFF2-40B4-BE49-F238E27FC236}">
                <a16:creationId xmlns:a16="http://schemas.microsoft.com/office/drawing/2014/main" id="{9A90D93C-57A6-EF84-D9C3-AF3325699059}"/>
              </a:ext>
            </a:extLst>
          </p:cNvPr>
          <p:cNvSpPr/>
          <p:nvPr/>
        </p:nvSpPr>
        <p:spPr>
          <a:xfrm>
            <a:off x="495429" y="3812635"/>
            <a:ext cx="1147282" cy="371496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Day 3 - 32</a:t>
            </a:r>
            <a:endParaRPr sz="105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527EB5-D1B1-3471-E2FE-5B7EA6F9C9A2}"/>
              </a:ext>
            </a:extLst>
          </p:cNvPr>
          <p:cNvCxnSpPr>
            <a:stCxn id="4" idx="2"/>
            <a:endCxn id="15" idx="0"/>
          </p:cNvCxnSpPr>
          <p:nvPr/>
        </p:nvCxnSpPr>
        <p:spPr>
          <a:xfrm flipH="1">
            <a:off x="1070945" y="2259664"/>
            <a:ext cx="2713651" cy="608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EE29803-DA8C-F957-EA7D-DC3919D61746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flipH="1">
            <a:off x="1069070" y="3232545"/>
            <a:ext cx="2715526" cy="58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69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63e4d1cdf8_0_6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15</a:t>
            </a:fld>
            <a:endParaRPr/>
          </a:p>
        </p:txBody>
      </p:sp>
      <p:sp>
        <p:nvSpPr>
          <p:cNvPr id="479" name="Google Shape;479;g163e4d1cdf8_0_6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LSTM in Python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480" name="Google Shape;480;g163e4d1cdf8_0_6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523FA-1740-E1A6-525B-F9E54CD08403}"/>
              </a:ext>
            </a:extLst>
          </p:cNvPr>
          <p:cNvSpPr txBox="1"/>
          <p:nvPr/>
        </p:nvSpPr>
        <p:spPr>
          <a:xfrm>
            <a:off x="964958" y="4396742"/>
            <a:ext cx="2693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dirty="0"/>
              <a:t>** Loss is customized based on quantile to provide probability predictions</a:t>
            </a:r>
          </a:p>
        </p:txBody>
      </p:sp>
      <p:sp>
        <p:nvSpPr>
          <p:cNvPr id="11" name="Google Shape;466;p7">
            <a:extLst>
              <a:ext uri="{FF2B5EF4-FFF2-40B4-BE49-F238E27FC236}">
                <a16:creationId xmlns:a16="http://schemas.microsoft.com/office/drawing/2014/main" id="{DEB6AE66-F1C1-DED3-D0E1-2A07BE210B95}"/>
              </a:ext>
            </a:extLst>
          </p:cNvPr>
          <p:cNvSpPr/>
          <p:nvPr/>
        </p:nvSpPr>
        <p:spPr>
          <a:xfrm>
            <a:off x="5148739" y="1568089"/>
            <a:ext cx="2991405" cy="63349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To be determined using validation</a:t>
            </a:r>
            <a:endParaRPr sz="2000" dirty="0"/>
          </a:p>
        </p:txBody>
      </p:sp>
      <p:sp>
        <p:nvSpPr>
          <p:cNvPr id="12" name="Google Shape;466;p7">
            <a:extLst>
              <a:ext uri="{FF2B5EF4-FFF2-40B4-BE49-F238E27FC236}">
                <a16:creationId xmlns:a16="http://schemas.microsoft.com/office/drawing/2014/main" id="{082619A8-1FA9-4EEE-F300-23EA92F1F276}"/>
              </a:ext>
            </a:extLst>
          </p:cNvPr>
          <p:cNvSpPr/>
          <p:nvPr/>
        </p:nvSpPr>
        <p:spPr>
          <a:xfrm>
            <a:off x="5421904" y="2387864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Features</a:t>
            </a:r>
            <a:endParaRPr sz="2000" dirty="0"/>
          </a:p>
        </p:txBody>
      </p:sp>
      <p:sp>
        <p:nvSpPr>
          <p:cNvPr id="13" name="Google Shape;466;p7">
            <a:extLst>
              <a:ext uri="{FF2B5EF4-FFF2-40B4-BE49-F238E27FC236}">
                <a16:creationId xmlns:a16="http://schemas.microsoft.com/office/drawing/2014/main" id="{0FC38972-1330-D31A-002C-A92F7809A37C}"/>
              </a:ext>
            </a:extLst>
          </p:cNvPr>
          <p:cNvSpPr/>
          <p:nvPr/>
        </p:nvSpPr>
        <p:spPr>
          <a:xfrm>
            <a:off x="5421905" y="2879846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Batch size</a:t>
            </a:r>
            <a:endParaRPr sz="2000" dirty="0"/>
          </a:p>
        </p:txBody>
      </p:sp>
      <p:sp>
        <p:nvSpPr>
          <p:cNvPr id="14" name="Google Shape;466;p7">
            <a:extLst>
              <a:ext uri="{FF2B5EF4-FFF2-40B4-BE49-F238E27FC236}">
                <a16:creationId xmlns:a16="http://schemas.microsoft.com/office/drawing/2014/main" id="{E5543A88-1EFA-775C-4CE0-55E85214A1A6}"/>
              </a:ext>
            </a:extLst>
          </p:cNvPr>
          <p:cNvSpPr/>
          <p:nvPr/>
        </p:nvSpPr>
        <p:spPr>
          <a:xfrm>
            <a:off x="5421905" y="3392695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/>
              <a:t>N steps</a:t>
            </a:r>
            <a:endParaRPr sz="2000" dirty="0"/>
          </a:p>
        </p:txBody>
      </p:sp>
      <p:sp>
        <p:nvSpPr>
          <p:cNvPr id="15" name="Google Shape;466;p7">
            <a:extLst>
              <a:ext uri="{FF2B5EF4-FFF2-40B4-BE49-F238E27FC236}">
                <a16:creationId xmlns:a16="http://schemas.microsoft.com/office/drawing/2014/main" id="{A9B04F63-735B-18DB-907F-12DE448362F6}"/>
              </a:ext>
            </a:extLst>
          </p:cNvPr>
          <p:cNvSpPr/>
          <p:nvPr/>
        </p:nvSpPr>
        <p:spPr>
          <a:xfrm>
            <a:off x="5421905" y="3905544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Epoch</a:t>
            </a:r>
            <a:endParaRPr sz="2000" dirty="0"/>
          </a:p>
        </p:txBody>
      </p:sp>
      <p:sp>
        <p:nvSpPr>
          <p:cNvPr id="2" name="Google Shape;466;p7">
            <a:extLst>
              <a:ext uri="{FF2B5EF4-FFF2-40B4-BE49-F238E27FC236}">
                <a16:creationId xmlns:a16="http://schemas.microsoft.com/office/drawing/2014/main" id="{2871C707-520C-3575-DE7F-4D809C6F0F76}"/>
              </a:ext>
            </a:extLst>
          </p:cNvPr>
          <p:cNvSpPr/>
          <p:nvPr/>
        </p:nvSpPr>
        <p:spPr>
          <a:xfrm>
            <a:off x="816145" y="1568089"/>
            <a:ext cx="2991405" cy="63349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Model set-up</a:t>
            </a:r>
            <a:endParaRPr sz="2000" dirty="0"/>
          </a:p>
        </p:txBody>
      </p:sp>
      <p:sp>
        <p:nvSpPr>
          <p:cNvPr id="4" name="Google Shape;466;p7">
            <a:extLst>
              <a:ext uri="{FF2B5EF4-FFF2-40B4-BE49-F238E27FC236}">
                <a16:creationId xmlns:a16="http://schemas.microsoft.com/office/drawing/2014/main" id="{5A43A2DF-2EE2-5010-7BA3-3ADBE8A75B31}"/>
              </a:ext>
            </a:extLst>
          </p:cNvPr>
          <p:cNvSpPr/>
          <p:nvPr/>
        </p:nvSpPr>
        <p:spPr>
          <a:xfrm>
            <a:off x="670633" y="2462678"/>
            <a:ext cx="1559247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dirty="0">
                <a:solidFill>
                  <a:schemeClr val="dk1"/>
                </a:solidFill>
              </a:rPr>
              <a:t>Package: </a:t>
            </a:r>
            <a:r>
              <a:rPr lang="en-AU" sz="1200" dirty="0" err="1">
                <a:solidFill>
                  <a:schemeClr val="dk1"/>
                </a:solidFill>
              </a:rPr>
              <a:t>Keras</a:t>
            </a:r>
            <a:endParaRPr sz="120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A95FF844-CDA4-B907-571E-F8C6242F68BF}"/>
              </a:ext>
            </a:extLst>
          </p:cNvPr>
          <p:cNvSpPr/>
          <p:nvPr/>
        </p:nvSpPr>
        <p:spPr>
          <a:xfrm>
            <a:off x="665618" y="2988345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Model: Sequential</a:t>
            </a:r>
            <a:endParaRPr sz="1100" dirty="0"/>
          </a:p>
        </p:txBody>
      </p:sp>
      <p:sp>
        <p:nvSpPr>
          <p:cNvPr id="6" name="Google Shape;466;p7">
            <a:extLst>
              <a:ext uri="{FF2B5EF4-FFF2-40B4-BE49-F238E27FC236}">
                <a16:creationId xmlns:a16="http://schemas.microsoft.com/office/drawing/2014/main" id="{76E882C2-31E0-A0F9-4C4C-ABEBD03F6FF0}"/>
              </a:ext>
            </a:extLst>
          </p:cNvPr>
          <p:cNvSpPr/>
          <p:nvPr/>
        </p:nvSpPr>
        <p:spPr>
          <a:xfrm>
            <a:off x="665618" y="3529359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/>
              <a:t>Activation: </a:t>
            </a:r>
            <a:r>
              <a:rPr lang="en-AU" sz="1100" dirty="0" err="1"/>
              <a:t>relu</a:t>
            </a:r>
            <a:endParaRPr sz="1100" dirty="0"/>
          </a:p>
        </p:txBody>
      </p:sp>
      <p:sp>
        <p:nvSpPr>
          <p:cNvPr id="7" name="Google Shape;466;p7">
            <a:extLst>
              <a:ext uri="{FF2B5EF4-FFF2-40B4-BE49-F238E27FC236}">
                <a16:creationId xmlns:a16="http://schemas.microsoft.com/office/drawing/2014/main" id="{45F7A49E-A9C5-351D-993F-FE0D2967FA56}"/>
              </a:ext>
            </a:extLst>
          </p:cNvPr>
          <p:cNvSpPr/>
          <p:nvPr/>
        </p:nvSpPr>
        <p:spPr>
          <a:xfrm>
            <a:off x="2365933" y="2471560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Optimiser: Adam</a:t>
            </a:r>
            <a:endParaRPr sz="1100" dirty="0"/>
          </a:p>
        </p:txBody>
      </p:sp>
      <p:sp>
        <p:nvSpPr>
          <p:cNvPr id="16" name="Google Shape;466;p7">
            <a:extLst>
              <a:ext uri="{FF2B5EF4-FFF2-40B4-BE49-F238E27FC236}">
                <a16:creationId xmlns:a16="http://schemas.microsoft.com/office/drawing/2014/main" id="{1D3112DA-E89B-8154-00BB-3086F9CE404E}"/>
              </a:ext>
            </a:extLst>
          </p:cNvPr>
          <p:cNvSpPr/>
          <p:nvPr/>
        </p:nvSpPr>
        <p:spPr>
          <a:xfrm>
            <a:off x="2370813" y="2998646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Layers: 50</a:t>
            </a:r>
            <a:endParaRPr sz="1100" dirty="0"/>
          </a:p>
        </p:txBody>
      </p:sp>
      <p:sp>
        <p:nvSpPr>
          <p:cNvPr id="17" name="Google Shape;466;p7">
            <a:extLst>
              <a:ext uri="{FF2B5EF4-FFF2-40B4-BE49-F238E27FC236}">
                <a16:creationId xmlns:a16="http://schemas.microsoft.com/office/drawing/2014/main" id="{3CF72DCE-4DCD-0CBC-873F-213AD75A6057}"/>
              </a:ext>
            </a:extLst>
          </p:cNvPr>
          <p:cNvSpPr/>
          <p:nvPr/>
        </p:nvSpPr>
        <p:spPr>
          <a:xfrm>
            <a:off x="2370813" y="3539660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Number of outputs: 1</a:t>
            </a:r>
            <a:endParaRPr sz="1100" dirty="0"/>
          </a:p>
        </p:txBody>
      </p:sp>
      <p:sp>
        <p:nvSpPr>
          <p:cNvPr id="18" name="Google Shape;466;p7">
            <a:extLst>
              <a:ext uri="{FF2B5EF4-FFF2-40B4-BE49-F238E27FC236}">
                <a16:creationId xmlns:a16="http://schemas.microsoft.com/office/drawing/2014/main" id="{87DD7E28-86FB-EC6E-6287-BEFCE3B5EAAB}"/>
              </a:ext>
            </a:extLst>
          </p:cNvPr>
          <p:cNvSpPr/>
          <p:nvPr/>
        </p:nvSpPr>
        <p:spPr>
          <a:xfrm>
            <a:off x="1435036" y="4066254"/>
            <a:ext cx="1579659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Loss: customised</a:t>
            </a:r>
            <a:endParaRPr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461026-5AEC-399F-A7AE-A4B359E518CC}"/>
              </a:ext>
            </a:extLst>
          </p:cNvPr>
          <p:cNvSpPr/>
          <p:nvPr/>
        </p:nvSpPr>
        <p:spPr>
          <a:xfrm>
            <a:off x="231889" y="1419664"/>
            <a:ext cx="4122295" cy="33771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9584EF-82F1-3F72-C4F0-A1ECFD629AC8}"/>
              </a:ext>
            </a:extLst>
          </p:cNvPr>
          <p:cNvSpPr/>
          <p:nvPr/>
        </p:nvSpPr>
        <p:spPr>
          <a:xfrm>
            <a:off x="4500131" y="1405288"/>
            <a:ext cx="4122295" cy="33771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827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" grpId="0"/>
      <p:bldP spid="480" grpId="0" animBg="1"/>
      <p:bldP spid="9" grpId="0"/>
      <p:bldP spid="11" grpId="0" animBg="1"/>
      <p:bldP spid="12" grpId="0" animBg="1"/>
      <p:bldP spid="13" grpId="0" animBg="1"/>
      <p:bldP spid="14" grpId="0" animBg="1"/>
      <p:bldP spid="15" grpId="0" animBg="1"/>
      <p:bldP spid="2" grpId="0" animBg="1"/>
      <p:bldP spid="4" grpId="0" animBg="1"/>
      <p:bldP spid="5" grpId="0" animBg="1"/>
      <p:bldP spid="6" grpId="0" animBg="1"/>
      <p:bldP spid="7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63e4d1cdf8_0_6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LSTM in Python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12" name="Google Shape;466;p7">
            <a:extLst>
              <a:ext uri="{FF2B5EF4-FFF2-40B4-BE49-F238E27FC236}">
                <a16:creationId xmlns:a16="http://schemas.microsoft.com/office/drawing/2014/main" id="{082619A8-1FA9-4EEE-F300-23EA92F1F276}"/>
              </a:ext>
            </a:extLst>
          </p:cNvPr>
          <p:cNvSpPr/>
          <p:nvPr/>
        </p:nvSpPr>
        <p:spPr>
          <a:xfrm>
            <a:off x="2538853" y="1459624"/>
            <a:ext cx="4066293" cy="58653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1" dirty="0">
                <a:solidFill>
                  <a:schemeClr val="dk1"/>
                </a:solidFill>
              </a:rPr>
              <a:t>Feature Selection</a:t>
            </a:r>
            <a:endParaRPr sz="32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2C9D34C-F38E-0607-3209-5C032F7E05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1260112"/>
              </p:ext>
            </p:extLst>
          </p:nvPr>
        </p:nvGraphicFramePr>
        <p:xfrm>
          <a:off x="2508353" y="2211155"/>
          <a:ext cx="4127292" cy="2300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280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7F123B-DCA4-27E3-ED90-13F05F49B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80" y="1404145"/>
            <a:ext cx="6546654" cy="3479794"/>
          </a:xfrm>
          <a:prstGeom prst="rect">
            <a:avLst/>
          </a:prstGeom>
        </p:spPr>
      </p:pic>
      <p:sp>
        <p:nvSpPr>
          <p:cNvPr id="6" name="Google Shape;466;p7">
            <a:extLst>
              <a:ext uri="{FF2B5EF4-FFF2-40B4-BE49-F238E27FC236}">
                <a16:creationId xmlns:a16="http://schemas.microsoft.com/office/drawing/2014/main" id="{B379430D-8641-C97E-3838-B44ABEC59421}"/>
              </a:ext>
            </a:extLst>
          </p:cNvPr>
          <p:cNvSpPr/>
          <p:nvPr/>
        </p:nvSpPr>
        <p:spPr>
          <a:xfrm>
            <a:off x="351226" y="630635"/>
            <a:ext cx="4066293" cy="58653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1" dirty="0">
                <a:solidFill>
                  <a:schemeClr val="dk1"/>
                </a:solidFill>
              </a:rPr>
              <a:t>Feature Selection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9740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C0D44-6603-BA38-2A9C-C112A011AD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105"/>
          <a:stretch/>
        </p:blipFill>
        <p:spPr>
          <a:xfrm>
            <a:off x="2867300" y="1982586"/>
            <a:ext cx="6205341" cy="16197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1B91DD-ED81-F932-F1BD-E53738DB7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951" y="3602360"/>
            <a:ext cx="1508891" cy="632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3F4D0C-3FFE-9DA8-AEE0-B618FD0756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801" b="86641"/>
          <a:stretch/>
        </p:blipFill>
        <p:spPr>
          <a:xfrm>
            <a:off x="2901951" y="1622175"/>
            <a:ext cx="2310512" cy="328421"/>
          </a:xfrm>
          <a:prstGeom prst="rect">
            <a:avLst/>
          </a:prstGeom>
        </p:spPr>
      </p:pic>
      <p:sp>
        <p:nvSpPr>
          <p:cNvPr id="2" name="Google Shape;466;p7">
            <a:extLst>
              <a:ext uri="{FF2B5EF4-FFF2-40B4-BE49-F238E27FC236}">
                <a16:creationId xmlns:a16="http://schemas.microsoft.com/office/drawing/2014/main" id="{7FDC1AA1-52B6-4039-6AE5-74F5BDF3A337}"/>
              </a:ext>
            </a:extLst>
          </p:cNvPr>
          <p:cNvSpPr/>
          <p:nvPr/>
        </p:nvSpPr>
        <p:spPr>
          <a:xfrm>
            <a:off x="351226" y="630635"/>
            <a:ext cx="4066293" cy="58653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1" dirty="0">
                <a:solidFill>
                  <a:schemeClr val="dk1"/>
                </a:solidFill>
              </a:rPr>
              <a:t>Feature Selection</a:t>
            </a:r>
            <a:endParaRPr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7784EB-0A66-6479-BB9B-885D214BC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70" y="1529998"/>
            <a:ext cx="2596198" cy="213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7A065F-2FED-8D65-3B38-5CCFA80CFB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046"/>
          <a:stretch/>
        </p:blipFill>
        <p:spPr>
          <a:xfrm>
            <a:off x="2895687" y="1529998"/>
            <a:ext cx="4861723" cy="30841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C0B120-CE4B-1801-EF4B-F0BC5D5C96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656" b="87600"/>
          <a:stretch/>
        </p:blipFill>
        <p:spPr>
          <a:xfrm>
            <a:off x="7757410" y="1529998"/>
            <a:ext cx="1311639" cy="618236"/>
          </a:xfrm>
          <a:prstGeom prst="rect">
            <a:avLst/>
          </a:prstGeom>
        </p:spPr>
      </p:pic>
      <p:sp>
        <p:nvSpPr>
          <p:cNvPr id="8" name="Google Shape;466;p7">
            <a:extLst>
              <a:ext uri="{FF2B5EF4-FFF2-40B4-BE49-F238E27FC236}">
                <a16:creationId xmlns:a16="http://schemas.microsoft.com/office/drawing/2014/main" id="{D2DAA91D-5B5D-CA1F-F654-9C2B81E68E2D}"/>
              </a:ext>
            </a:extLst>
          </p:cNvPr>
          <p:cNvSpPr/>
          <p:nvPr/>
        </p:nvSpPr>
        <p:spPr>
          <a:xfrm>
            <a:off x="351226" y="630635"/>
            <a:ext cx="4066293" cy="58653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1" dirty="0">
                <a:solidFill>
                  <a:schemeClr val="dk1"/>
                </a:solidFill>
              </a:rPr>
              <a:t>Feature Selection</a:t>
            </a:r>
            <a:endParaRPr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3413F-B9A2-8C4F-8289-2D532EFB5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0" y="1529998"/>
            <a:ext cx="2596198" cy="213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6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95399-8D2F-A2EF-3F57-467D9249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840" y="1474415"/>
            <a:ext cx="4068856" cy="3345222"/>
          </a:xfrm>
          <a:prstGeom prst="rect">
            <a:avLst/>
          </a:prstGeom>
        </p:spPr>
      </p:pic>
      <p:sp>
        <p:nvSpPr>
          <p:cNvPr id="6" name="Google Shape;466;p7">
            <a:extLst>
              <a:ext uri="{FF2B5EF4-FFF2-40B4-BE49-F238E27FC236}">
                <a16:creationId xmlns:a16="http://schemas.microsoft.com/office/drawing/2014/main" id="{9471981D-D302-D238-4A16-B3112584803B}"/>
              </a:ext>
            </a:extLst>
          </p:cNvPr>
          <p:cNvSpPr/>
          <p:nvPr/>
        </p:nvSpPr>
        <p:spPr>
          <a:xfrm>
            <a:off x="351226" y="630635"/>
            <a:ext cx="4066293" cy="58653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1" dirty="0">
                <a:solidFill>
                  <a:schemeClr val="dk1"/>
                </a:solidFill>
              </a:rPr>
              <a:t>Feature Selection</a:t>
            </a:r>
            <a:endParaRPr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CA7743-B576-B15D-3EF1-3EBEA876F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0" y="1529998"/>
            <a:ext cx="2596198" cy="213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E5024A-D7E8-1D64-94B7-30A563715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038" y="1737985"/>
            <a:ext cx="2596198" cy="2137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E41A1D-BA1C-E576-208A-53BF17580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444" y="1404145"/>
            <a:ext cx="3139712" cy="3261643"/>
          </a:xfrm>
          <a:prstGeom prst="rect">
            <a:avLst/>
          </a:prstGeom>
        </p:spPr>
      </p:pic>
      <p:sp>
        <p:nvSpPr>
          <p:cNvPr id="8" name="Google Shape;466;p7">
            <a:extLst>
              <a:ext uri="{FF2B5EF4-FFF2-40B4-BE49-F238E27FC236}">
                <a16:creationId xmlns:a16="http://schemas.microsoft.com/office/drawing/2014/main" id="{D506311D-A02E-A7AD-04C4-561DF0454316}"/>
              </a:ext>
            </a:extLst>
          </p:cNvPr>
          <p:cNvSpPr/>
          <p:nvPr/>
        </p:nvSpPr>
        <p:spPr>
          <a:xfrm>
            <a:off x="351226" y="630635"/>
            <a:ext cx="4066293" cy="58653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1" dirty="0">
                <a:solidFill>
                  <a:schemeClr val="dk1"/>
                </a:solidFill>
              </a:rPr>
              <a:t>Feature Selection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09044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63e4d1cdf8_0_6"/>
          <p:cNvSpPr txBox="1">
            <a:spLocks noGrp="1"/>
          </p:cNvSpPr>
          <p:nvPr>
            <p:ph type="sldNum" idx="12"/>
          </p:nvPr>
        </p:nvSpPr>
        <p:spPr>
          <a:xfrm>
            <a:off x="8406426" y="4889378"/>
            <a:ext cx="2160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AU"/>
              <a:t>22</a:t>
            </a:fld>
            <a:endParaRPr/>
          </a:p>
        </p:txBody>
      </p:sp>
      <p:sp>
        <p:nvSpPr>
          <p:cNvPr id="479" name="Google Shape;479;g163e4d1cdf8_0_6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LSTM in Python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480" name="Google Shape;480;g163e4d1cdf8_0_6"/>
          <p:cNvSpPr/>
          <p:nvPr/>
        </p:nvSpPr>
        <p:spPr>
          <a:xfrm>
            <a:off x="6024175" y="4943675"/>
            <a:ext cx="984300" cy="12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523FA-1740-E1A6-525B-F9E54CD08403}"/>
              </a:ext>
            </a:extLst>
          </p:cNvPr>
          <p:cNvSpPr txBox="1"/>
          <p:nvPr/>
        </p:nvSpPr>
        <p:spPr>
          <a:xfrm>
            <a:off x="964958" y="4396742"/>
            <a:ext cx="2693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dirty="0"/>
              <a:t>** Loss is customized based on quantile to provide probability predictions</a:t>
            </a:r>
          </a:p>
        </p:txBody>
      </p:sp>
      <p:sp>
        <p:nvSpPr>
          <p:cNvPr id="11" name="Google Shape;466;p7">
            <a:extLst>
              <a:ext uri="{FF2B5EF4-FFF2-40B4-BE49-F238E27FC236}">
                <a16:creationId xmlns:a16="http://schemas.microsoft.com/office/drawing/2014/main" id="{DEB6AE66-F1C1-DED3-D0E1-2A07BE210B95}"/>
              </a:ext>
            </a:extLst>
          </p:cNvPr>
          <p:cNvSpPr/>
          <p:nvPr/>
        </p:nvSpPr>
        <p:spPr>
          <a:xfrm>
            <a:off x="5148739" y="1568089"/>
            <a:ext cx="2991405" cy="63349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To be determined using validation</a:t>
            </a:r>
            <a:endParaRPr sz="2000" dirty="0"/>
          </a:p>
        </p:txBody>
      </p:sp>
      <p:sp>
        <p:nvSpPr>
          <p:cNvPr id="12" name="Google Shape;466;p7">
            <a:extLst>
              <a:ext uri="{FF2B5EF4-FFF2-40B4-BE49-F238E27FC236}">
                <a16:creationId xmlns:a16="http://schemas.microsoft.com/office/drawing/2014/main" id="{082619A8-1FA9-4EEE-F300-23EA92F1F276}"/>
              </a:ext>
            </a:extLst>
          </p:cNvPr>
          <p:cNvSpPr/>
          <p:nvPr/>
        </p:nvSpPr>
        <p:spPr>
          <a:xfrm>
            <a:off x="5421904" y="2387864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Features</a:t>
            </a:r>
            <a:endParaRPr sz="2000" dirty="0"/>
          </a:p>
        </p:txBody>
      </p:sp>
      <p:sp>
        <p:nvSpPr>
          <p:cNvPr id="13" name="Google Shape;466;p7">
            <a:extLst>
              <a:ext uri="{FF2B5EF4-FFF2-40B4-BE49-F238E27FC236}">
                <a16:creationId xmlns:a16="http://schemas.microsoft.com/office/drawing/2014/main" id="{0FC38972-1330-D31A-002C-A92F7809A37C}"/>
              </a:ext>
            </a:extLst>
          </p:cNvPr>
          <p:cNvSpPr/>
          <p:nvPr/>
        </p:nvSpPr>
        <p:spPr>
          <a:xfrm>
            <a:off x="5421905" y="2879846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Batch size</a:t>
            </a:r>
            <a:endParaRPr sz="2000" dirty="0"/>
          </a:p>
        </p:txBody>
      </p:sp>
      <p:sp>
        <p:nvSpPr>
          <p:cNvPr id="14" name="Google Shape;466;p7">
            <a:extLst>
              <a:ext uri="{FF2B5EF4-FFF2-40B4-BE49-F238E27FC236}">
                <a16:creationId xmlns:a16="http://schemas.microsoft.com/office/drawing/2014/main" id="{E5543A88-1EFA-775C-4CE0-55E85214A1A6}"/>
              </a:ext>
            </a:extLst>
          </p:cNvPr>
          <p:cNvSpPr/>
          <p:nvPr/>
        </p:nvSpPr>
        <p:spPr>
          <a:xfrm>
            <a:off x="5421905" y="3392695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/>
              <a:t>N steps</a:t>
            </a:r>
            <a:endParaRPr sz="2000" dirty="0"/>
          </a:p>
        </p:txBody>
      </p:sp>
      <p:sp>
        <p:nvSpPr>
          <p:cNvPr id="15" name="Google Shape;466;p7">
            <a:extLst>
              <a:ext uri="{FF2B5EF4-FFF2-40B4-BE49-F238E27FC236}">
                <a16:creationId xmlns:a16="http://schemas.microsoft.com/office/drawing/2014/main" id="{A9B04F63-735B-18DB-907F-12DE448362F6}"/>
              </a:ext>
            </a:extLst>
          </p:cNvPr>
          <p:cNvSpPr/>
          <p:nvPr/>
        </p:nvSpPr>
        <p:spPr>
          <a:xfrm>
            <a:off x="5421905" y="3905544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Epoch</a:t>
            </a:r>
            <a:endParaRPr sz="2000" dirty="0"/>
          </a:p>
        </p:txBody>
      </p:sp>
      <p:sp>
        <p:nvSpPr>
          <p:cNvPr id="2" name="Google Shape;466;p7">
            <a:extLst>
              <a:ext uri="{FF2B5EF4-FFF2-40B4-BE49-F238E27FC236}">
                <a16:creationId xmlns:a16="http://schemas.microsoft.com/office/drawing/2014/main" id="{2871C707-520C-3575-DE7F-4D809C6F0F76}"/>
              </a:ext>
            </a:extLst>
          </p:cNvPr>
          <p:cNvSpPr/>
          <p:nvPr/>
        </p:nvSpPr>
        <p:spPr>
          <a:xfrm>
            <a:off x="816145" y="1568089"/>
            <a:ext cx="2991405" cy="63349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Model set-up</a:t>
            </a:r>
            <a:endParaRPr sz="2000" dirty="0"/>
          </a:p>
        </p:txBody>
      </p:sp>
      <p:sp>
        <p:nvSpPr>
          <p:cNvPr id="4" name="Google Shape;466;p7">
            <a:extLst>
              <a:ext uri="{FF2B5EF4-FFF2-40B4-BE49-F238E27FC236}">
                <a16:creationId xmlns:a16="http://schemas.microsoft.com/office/drawing/2014/main" id="{5A43A2DF-2EE2-5010-7BA3-3ADBE8A75B31}"/>
              </a:ext>
            </a:extLst>
          </p:cNvPr>
          <p:cNvSpPr/>
          <p:nvPr/>
        </p:nvSpPr>
        <p:spPr>
          <a:xfrm>
            <a:off x="670633" y="2462678"/>
            <a:ext cx="1559247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dirty="0">
                <a:solidFill>
                  <a:schemeClr val="dk1"/>
                </a:solidFill>
              </a:rPr>
              <a:t>Package: </a:t>
            </a:r>
            <a:r>
              <a:rPr lang="en-AU" sz="1200" dirty="0" err="1">
                <a:solidFill>
                  <a:schemeClr val="dk1"/>
                </a:solidFill>
              </a:rPr>
              <a:t>Keras</a:t>
            </a:r>
            <a:endParaRPr sz="120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A95FF844-CDA4-B907-571E-F8C6242F68BF}"/>
              </a:ext>
            </a:extLst>
          </p:cNvPr>
          <p:cNvSpPr/>
          <p:nvPr/>
        </p:nvSpPr>
        <p:spPr>
          <a:xfrm>
            <a:off x="665618" y="2988345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Model: Sequential</a:t>
            </a:r>
            <a:endParaRPr sz="1100" dirty="0"/>
          </a:p>
        </p:txBody>
      </p:sp>
      <p:sp>
        <p:nvSpPr>
          <p:cNvPr id="6" name="Google Shape;466;p7">
            <a:extLst>
              <a:ext uri="{FF2B5EF4-FFF2-40B4-BE49-F238E27FC236}">
                <a16:creationId xmlns:a16="http://schemas.microsoft.com/office/drawing/2014/main" id="{76E882C2-31E0-A0F9-4C4C-ABEBD03F6FF0}"/>
              </a:ext>
            </a:extLst>
          </p:cNvPr>
          <p:cNvSpPr/>
          <p:nvPr/>
        </p:nvSpPr>
        <p:spPr>
          <a:xfrm>
            <a:off x="665618" y="3529359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/>
              <a:t>Activation: </a:t>
            </a:r>
            <a:r>
              <a:rPr lang="en-AU" sz="1100" dirty="0" err="1"/>
              <a:t>relu</a:t>
            </a:r>
            <a:endParaRPr sz="1100" dirty="0"/>
          </a:p>
        </p:txBody>
      </p:sp>
      <p:sp>
        <p:nvSpPr>
          <p:cNvPr id="7" name="Google Shape;466;p7">
            <a:extLst>
              <a:ext uri="{FF2B5EF4-FFF2-40B4-BE49-F238E27FC236}">
                <a16:creationId xmlns:a16="http://schemas.microsoft.com/office/drawing/2014/main" id="{45F7A49E-A9C5-351D-993F-FE0D2967FA56}"/>
              </a:ext>
            </a:extLst>
          </p:cNvPr>
          <p:cNvSpPr/>
          <p:nvPr/>
        </p:nvSpPr>
        <p:spPr>
          <a:xfrm>
            <a:off x="2365933" y="2471560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Optimiser: Adam</a:t>
            </a:r>
            <a:endParaRPr sz="1100" dirty="0"/>
          </a:p>
        </p:txBody>
      </p:sp>
      <p:sp>
        <p:nvSpPr>
          <p:cNvPr id="16" name="Google Shape;466;p7">
            <a:extLst>
              <a:ext uri="{FF2B5EF4-FFF2-40B4-BE49-F238E27FC236}">
                <a16:creationId xmlns:a16="http://schemas.microsoft.com/office/drawing/2014/main" id="{1D3112DA-E89B-8154-00BB-3086F9CE404E}"/>
              </a:ext>
            </a:extLst>
          </p:cNvPr>
          <p:cNvSpPr/>
          <p:nvPr/>
        </p:nvSpPr>
        <p:spPr>
          <a:xfrm>
            <a:off x="2370813" y="2998646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Layers: 50</a:t>
            </a:r>
            <a:endParaRPr sz="1100" dirty="0"/>
          </a:p>
        </p:txBody>
      </p:sp>
      <p:sp>
        <p:nvSpPr>
          <p:cNvPr id="17" name="Google Shape;466;p7">
            <a:extLst>
              <a:ext uri="{FF2B5EF4-FFF2-40B4-BE49-F238E27FC236}">
                <a16:creationId xmlns:a16="http://schemas.microsoft.com/office/drawing/2014/main" id="{3CF72DCE-4DCD-0CBC-873F-213AD75A6057}"/>
              </a:ext>
            </a:extLst>
          </p:cNvPr>
          <p:cNvSpPr/>
          <p:nvPr/>
        </p:nvSpPr>
        <p:spPr>
          <a:xfrm>
            <a:off x="2370813" y="3539660"/>
            <a:ext cx="1559248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Number of outputs: 1</a:t>
            </a:r>
            <a:endParaRPr sz="1100" dirty="0"/>
          </a:p>
        </p:txBody>
      </p:sp>
      <p:sp>
        <p:nvSpPr>
          <p:cNvPr id="18" name="Google Shape;466;p7">
            <a:extLst>
              <a:ext uri="{FF2B5EF4-FFF2-40B4-BE49-F238E27FC236}">
                <a16:creationId xmlns:a16="http://schemas.microsoft.com/office/drawing/2014/main" id="{87DD7E28-86FB-EC6E-6287-BEFCE3B5EAAB}"/>
              </a:ext>
            </a:extLst>
          </p:cNvPr>
          <p:cNvSpPr/>
          <p:nvPr/>
        </p:nvSpPr>
        <p:spPr>
          <a:xfrm>
            <a:off x="1435036" y="4066254"/>
            <a:ext cx="1579659" cy="31763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dirty="0">
                <a:solidFill>
                  <a:schemeClr val="dk1"/>
                </a:solidFill>
              </a:rPr>
              <a:t>Loss: customised</a:t>
            </a:r>
            <a:endParaRPr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461026-5AEC-399F-A7AE-A4B359E518CC}"/>
              </a:ext>
            </a:extLst>
          </p:cNvPr>
          <p:cNvSpPr/>
          <p:nvPr/>
        </p:nvSpPr>
        <p:spPr>
          <a:xfrm>
            <a:off x="231889" y="1419664"/>
            <a:ext cx="4122295" cy="33771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9584EF-82F1-3F72-C4F0-A1ECFD629AC8}"/>
              </a:ext>
            </a:extLst>
          </p:cNvPr>
          <p:cNvSpPr/>
          <p:nvPr/>
        </p:nvSpPr>
        <p:spPr>
          <a:xfrm>
            <a:off x="4500131" y="1405288"/>
            <a:ext cx="4122295" cy="33771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CA95D-BA47-6874-3DEB-F7406F93923C}"/>
              </a:ext>
            </a:extLst>
          </p:cNvPr>
          <p:cNvSpPr/>
          <p:nvPr/>
        </p:nvSpPr>
        <p:spPr>
          <a:xfrm>
            <a:off x="5279136" y="2789198"/>
            <a:ext cx="2670362" cy="1594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642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63e4d1cdf8_0_6"/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Parameter Tuning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3" name="Google Shape;466;p7">
            <a:extLst>
              <a:ext uri="{FF2B5EF4-FFF2-40B4-BE49-F238E27FC236}">
                <a16:creationId xmlns:a16="http://schemas.microsoft.com/office/drawing/2014/main" id="{5C5F5DBD-89A4-40D2-0EEC-DDEE95A5805D}"/>
              </a:ext>
            </a:extLst>
          </p:cNvPr>
          <p:cNvSpPr/>
          <p:nvPr/>
        </p:nvSpPr>
        <p:spPr>
          <a:xfrm>
            <a:off x="322718" y="1308568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N steps</a:t>
            </a:r>
            <a:endParaRPr sz="2000" dirty="0"/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7ED39ED5-A01C-DE5F-F5D2-7AB7B5D4DC06}"/>
              </a:ext>
            </a:extLst>
          </p:cNvPr>
          <p:cNvSpPr/>
          <p:nvPr/>
        </p:nvSpPr>
        <p:spPr>
          <a:xfrm>
            <a:off x="2704364" y="2451213"/>
            <a:ext cx="2680413" cy="2309836"/>
          </a:xfrm>
          <a:prstGeom prst="bracketPair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Google Shape;466;p7">
            <a:extLst>
              <a:ext uri="{FF2B5EF4-FFF2-40B4-BE49-F238E27FC236}">
                <a16:creationId xmlns:a16="http://schemas.microsoft.com/office/drawing/2014/main" id="{801E1E5D-E1CB-6165-BC78-B2FAD2210366}"/>
              </a:ext>
            </a:extLst>
          </p:cNvPr>
          <p:cNvSpPr/>
          <p:nvPr/>
        </p:nvSpPr>
        <p:spPr>
          <a:xfrm>
            <a:off x="3067699" y="2138759"/>
            <a:ext cx="1953742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Input Stack</a:t>
            </a:r>
            <a:endParaRPr sz="2000" dirty="0"/>
          </a:p>
        </p:txBody>
      </p:sp>
      <p:sp>
        <p:nvSpPr>
          <p:cNvPr id="21" name="Google Shape;466;p7">
            <a:extLst>
              <a:ext uri="{FF2B5EF4-FFF2-40B4-BE49-F238E27FC236}">
                <a16:creationId xmlns:a16="http://schemas.microsoft.com/office/drawing/2014/main" id="{A828D668-8BF5-CE02-78E1-EFB13068F16C}"/>
              </a:ext>
            </a:extLst>
          </p:cNvPr>
          <p:cNvSpPr/>
          <p:nvPr/>
        </p:nvSpPr>
        <p:spPr>
          <a:xfrm>
            <a:off x="2858748" y="2630741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Sales</a:t>
            </a:r>
            <a:endParaRPr sz="2000" dirty="0"/>
          </a:p>
        </p:txBody>
      </p:sp>
      <p:sp>
        <p:nvSpPr>
          <p:cNvPr id="22" name="Google Shape;466;p7">
            <a:extLst>
              <a:ext uri="{FF2B5EF4-FFF2-40B4-BE49-F238E27FC236}">
                <a16:creationId xmlns:a16="http://schemas.microsoft.com/office/drawing/2014/main" id="{8C3933CC-0F94-4C91-A4E7-8ED0590E818B}"/>
              </a:ext>
            </a:extLst>
          </p:cNvPr>
          <p:cNvSpPr/>
          <p:nvPr/>
        </p:nvSpPr>
        <p:spPr>
          <a:xfrm>
            <a:off x="2858749" y="3122723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Dates</a:t>
            </a:r>
            <a:endParaRPr sz="2000" dirty="0"/>
          </a:p>
        </p:txBody>
      </p:sp>
      <p:sp>
        <p:nvSpPr>
          <p:cNvPr id="23" name="Google Shape;466;p7">
            <a:extLst>
              <a:ext uri="{FF2B5EF4-FFF2-40B4-BE49-F238E27FC236}">
                <a16:creationId xmlns:a16="http://schemas.microsoft.com/office/drawing/2014/main" id="{EB54D221-4F03-5C8F-E850-551E7662DCA1}"/>
              </a:ext>
            </a:extLst>
          </p:cNvPr>
          <p:cNvSpPr/>
          <p:nvPr/>
        </p:nvSpPr>
        <p:spPr>
          <a:xfrm>
            <a:off x="2858749" y="3635572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Events</a:t>
            </a:r>
            <a:endParaRPr sz="2000" dirty="0"/>
          </a:p>
        </p:txBody>
      </p:sp>
      <p:sp>
        <p:nvSpPr>
          <p:cNvPr id="24" name="Google Shape;466;p7">
            <a:extLst>
              <a:ext uri="{FF2B5EF4-FFF2-40B4-BE49-F238E27FC236}">
                <a16:creationId xmlns:a16="http://schemas.microsoft.com/office/drawing/2014/main" id="{AFFE3760-15F9-6B2E-3E3A-A62862C8D3B3}"/>
              </a:ext>
            </a:extLst>
          </p:cNvPr>
          <p:cNvSpPr/>
          <p:nvPr/>
        </p:nvSpPr>
        <p:spPr>
          <a:xfrm>
            <a:off x="2858748" y="4148421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SNAP</a:t>
            </a:r>
            <a:endParaRPr sz="2000" dirty="0"/>
          </a:p>
        </p:txBody>
      </p:sp>
      <p:sp>
        <p:nvSpPr>
          <p:cNvPr id="25" name="Google Shape;466;p7">
            <a:extLst>
              <a:ext uri="{FF2B5EF4-FFF2-40B4-BE49-F238E27FC236}">
                <a16:creationId xmlns:a16="http://schemas.microsoft.com/office/drawing/2014/main" id="{791DCC29-34B7-3BB1-49B9-9DE93497BE76}"/>
              </a:ext>
            </a:extLst>
          </p:cNvPr>
          <p:cNvSpPr/>
          <p:nvPr/>
        </p:nvSpPr>
        <p:spPr>
          <a:xfrm>
            <a:off x="3067699" y="1644397"/>
            <a:ext cx="1953742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# of days</a:t>
            </a:r>
            <a:endParaRPr sz="20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E05690-41C2-FEAC-E3FF-000E269E8C69}"/>
              </a:ext>
            </a:extLst>
          </p:cNvPr>
          <p:cNvCxnSpPr>
            <a:cxnSpLocks/>
          </p:cNvCxnSpPr>
          <p:nvPr/>
        </p:nvCxnSpPr>
        <p:spPr>
          <a:xfrm>
            <a:off x="5384777" y="1937387"/>
            <a:ext cx="5965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466;p7">
            <a:extLst>
              <a:ext uri="{FF2B5EF4-FFF2-40B4-BE49-F238E27FC236}">
                <a16:creationId xmlns:a16="http://schemas.microsoft.com/office/drawing/2014/main" id="{575819D8-8A89-975B-8112-29374587A87E}"/>
              </a:ext>
            </a:extLst>
          </p:cNvPr>
          <p:cNvSpPr/>
          <p:nvPr/>
        </p:nvSpPr>
        <p:spPr>
          <a:xfrm>
            <a:off x="6411447" y="1719437"/>
            <a:ext cx="1953742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Input (X)</a:t>
            </a:r>
            <a:endParaRPr sz="2000" dirty="0"/>
          </a:p>
        </p:txBody>
      </p:sp>
      <p:sp>
        <p:nvSpPr>
          <p:cNvPr id="31" name="Google Shape;466;p7">
            <a:extLst>
              <a:ext uri="{FF2B5EF4-FFF2-40B4-BE49-F238E27FC236}">
                <a16:creationId xmlns:a16="http://schemas.microsoft.com/office/drawing/2014/main" id="{1D6BD6A3-F58B-6C7D-BE4D-40E25DD4E107}"/>
              </a:ext>
            </a:extLst>
          </p:cNvPr>
          <p:cNvSpPr/>
          <p:nvPr/>
        </p:nvSpPr>
        <p:spPr>
          <a:xfrm>
            <a:off x="6112147" y="2207718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1 - 10</a:t>
            </a:r>
            <a:endParaRPr sz="2000" dirty="0"/>
          </a:p>
        </p:txBody>
      </p:sp>
      <p:sp>
        <p:nvSpPr>
          <p:cNvPr id="32" name="Google Shape;466;p7">
            <a:extLst>
              <a:ext uri="{FF2B5EF4-FFF2-40B4-BE49-F238E27FC236}">
                <a16:creationId xmlns:a16="http://schemas.microsoft.com/office/drawing/2014/main" id="{115311C4-7D48-D67D-2C9B-991016D2C61B}"/>
              </a:ext>
            </a:extLst>
          </p:cNvPr>
          <p:cNvSpPr/>
          <p:nvPr/>
        </p:nvSpPr>
        <p:spPr>
          <a:xfrm>
            <a:off x="6112146" y="2688330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2 - 11</a:t>
            </a:r>
            <a:endParaRPr sz="2000" dirty="0"/>
          </a:p>
        </p:txBody>
      </p:sp>
      <p:sp>
        <p:nvSpPr>
          <p:cNvPr id="33" name="Google Shape;466;p7">
            <a:extLst>
              <a:ext uri="{FF2B5EF4-FFF2-40B4-BE49-F238E27FC236}">
                <a16:creationId xmlns:a16="http://schemas.microsoft.com/office/drawing/2014/main" id="{71516D13-2EF8-4C0A-12F2-BC2CC3F099EB}"/>
              </a:ext>
            </a:extLst>
          </p:cNvPr>
          <p:cNvSpPr/>
          <p:nvPr/>
        </p:nvSpPr>
        <p:spPr>
          <a:xfrm>
            <a:off x="6112145" y="3168942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3 - 12</a:t>
            </a:r>
            <a:endParaRPr sz="2000" dirty="0"/>
          </a:p>
        </p:txBody>
      </p:sp>
      <p:sp>
        <p:nvSpPr>
          <p:cNvPr id="34" name="Google Shape;466;p7">
            <a:extLst>
              <a:ext uri="{FF2B5EF4-FFF2-40B4-BE49-F238E27FC236}">
                <a16:creationId xmlns:a16="http://schemas.microsoft.com/office/drawing/2014/main" id="{9386DFD3-783E-579C-0251-0F1556549638}"/>
              </a:ext>
            </a:extLst>
          </p:cNvPr>
          <p:cNvSpPr/>
          <p:nvPr/>
        </p:nvSpPr>
        <p:spPr>
          <a:xfrm>
            <a:off x="6112148" y="4221764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18 - 27</a:t>
            </a:r>
            <a:endParaRPr sz="20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F7D04BA-CF22-4A1A-EE17-DC52BDF44A83}"/>
              </a:ext>
            </a:extLst>
          </p:cNvPr>
          <p:cNvSpPr/>
          <p:nvPr/>
        </p:nvSpPr>
        <p:spPr>
          <a:xfrm>
            <a:off x="7271923" y="370951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F1FFD6F-C8E3-EE03-499F-88B0EA2B6E8C}"/>
              </a:ext>
            </a:extLst>
          </p:cNvPr>
          <p:cNvSpPr/>
          <p:nvPr/>
        </p:nvSpPr>
        <p:spPr>
          <a:xfrm>
            <a:off x="7271923" y="385804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6F8CDA2-C15B-C5E4-9AFB-87CBFC67B6C7}"/>
              </a:ext>
            </a:extLst>
          </p:cNvPr>
          <p:cNvSpPr/>
          <p:nvPr/>
        </p:nvSpPr>
        <p:spPr>
          <a:xfrm>
            <a:off x="7271923" y="400848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152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920A81-0F50-AB80-C54F-2B1C9063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530793"/>
            <a:ext cx="4343400" cy="1386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8CB0E2-E3BB-E327-EE29-C8B394AF9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430" y="2299234"/>
            <a:ext cx="3787140" cy="1379220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FA86072F-1252-3DCA-3753-A559D2522F6B}"/>
              </a:ext>
            </a:extLst>
          </p:cNvPr>
          <p:cNvSpPr/>
          <p:nvPr/>
        </p:nvSpPr>
        <p:spPr>
          <a:xfrm>
            <a:off x="4522470" y="1965562"/>
            <a:ext cx="99060" cy="2819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19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66;p7">
            <a:extLst>
              <a:ext uri="{FF2B5EF4-FFF2-40B4-BE49-F238E27FC236}">
                <a16:creationId xmlns:a16="http://schemas.microsoft.com/office/drawing/2014/main" id="{5C5F5DBD-89A4-40D2-0EEC-DDEE95A5805D}"/>
              </a:ext>
            </a:extLst>
          </p:cNvPr>
          <p:cNvSpPr/>
          <p:nvPr/>
        </p:nvSpPr>
        <p:spPr>
          <a:xfrm>
            <a:off x="325825" y="1578497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Batch size</a:t>
            </a:r>
            <a:endParaRPr sz="2000" dirty="0"/>
          </a:p>
        </p:txBody>
      </p:sp>
      <p:sp>
        <p:nvSpPr>
          <p:cNvPr id="6" name="Google Shape;466;p7">
            <a:extLst>
              <a:ext uri="{FF2B5EF4-FFF2-40B4-BE49-F238E27FC236}">
                <a16:creationId xmlns:a16="http://schemas.microsoft.com/office/drawing/2014/main" id="{FDF7E61B-AA03-68DC-A7B4-16E6D22204F3}"/>
              </a:ext>
            </a:extLst>
          </p:cNvPr>
          <p:cNvSpPr/>
          <p:nvPr/>
        </p:nvSpPr>
        <p:spPr>
          <a:xfrm>
            <a:off x="3401720" y="1590184"/>
            <a:ext cx="1953742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Input (X)</a:t>
            </a:r>
            <a:endParaRPr sz="2000" dirty="0"/>
          </a:p>
        </p:txBody>
      </p:sp>
      <p:sp>
        <p:nvSpPr>
          <p:cNvPr id="7" name="Google Shape;466;p7">
            <a:extLst>
              <a:ext uri="{FF2B5EF4-FFF2-40B4-BE49-F238E27FC236}">
                <a16:creationId xmlns:a16="http://schemas.microsoft.com/office/drawing/2014/main" id="{0A1D611B-E6C2-2336-239C-C1F2B2EAF409}"/>
              </a:ext>
            </a:extLst>
          </p:cNvPr>
          <p:cNvSpPr/>
          <p:nvPr/>
        </p:nvSpPr>
        <p:spPr>
          <a:xfrm>
            <a:off x="3102420" y="2078465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1 - 10</a:t>
            </a:r>
            <a:endParaRPr sz="2000" dirty="0"/>
          </a:p>
        </p:txBody>
      </p:sp>
      <p:sp>
        <p:nvSpPr>
          <p:cNvPr id="8" name="Google Shape;466;p7">
            <a:extLst>
              <a:ext uri="{FF2B5EF4-FFF2-40B4-BE49-F238E27FC236}">
                <a16:creationId xmlns:a16="http://schemas.microsoft.com/office/drawing/2014/main" id="{96576350-AEE2-B424-CD75-DA3A1D083588}"/>
              </a:ext>
            </a:extLst>
          </p:cNvPr>
          <p:cNvSpPr/>
          <p:nvPr/>
        </p:nvSpPr>
        <p:spPr>
          <a:xfrm>
            <a:off x="3102419" y="2559077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2 - 11</a:t>
            </a:r>
            <a:endParaRPr sz="2000" dirty="0"/>
          </a:p>
        </p:txBody>
      </p:sp>
      <p:sp>
        <p:nvSpPr>
          <p:cNvPr id="9" name="Google Shape;466;p7">
            <a:extLst>
              <a:ext uri="{FF2B5EF4-FFF2-40B4-BE49-F238E27FC236}">
                <a16:creationId xmlns:a16="http://schemas.microsoft.com/office/drawing/2014/main" id="{DF039F01-E7A9-6F5D-8453-561DFC7BCFC4}"/>
              </a:ext>
            </a:extLst>
          </p:cNvPr>
          <p:cNvSpPr/>
          <p:nvPr/>
        </p:nvSpPr>
        <p:spPr>
          <a:xfrm>
            <a:off x="3102418" y="3039689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3 - 29</a:t>
            </a:r>
            <a:endParaRPr sz="2000" dirty="0"/>
          </a:p>
        </p:txBody>
      </p:sp>
      <p:sp>
        <p:nvSpPr>
          <p:cNvPr id="10" name="Google Shape;466;p7">
            <a:extLst>
              <a:ext uri="{FF2B5EF4-FFF2-40B4-BE49-F238E27FC236}">
                <a16:creationId xmlns:a16="http://schemas.microsoft.com/office/drawing/2014/main" id="{DAABF3E2-AEF3-A24B-5F63-436D7CCB86E1}"/>
              </a:ext>
            </a:extLst>
          </p:cNvPr>
          <p:cNvSpPr/>
          <p:nvPr/>
        </p:nvSpPr>
        <p:spPr>
          <a:xfrm>
            <a:off x="3102421" y="4092511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(k-27) - k</a:t>
            </a:r>
            <a:endParaRPr sz="2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B400E7-32B7-337A-FA1E-9279CF09BBA6}"/>
              </a:ext>
            </a:extLst>
          </p:cNvPr>
          <p:cNvSpPr/>
          <p:nvPr/>
        </p:nvSpPr>
        <p:spPr>
          <a:xfrm>
            <a:off x="4262196" y="358025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09C5CF-70D5-7DF3-081D-C12051FA0077}"/>
              </a:ext>
            </a:extLst>
          </p:cNvPr>
          <p:cNvSpPr/>
          <p:nvPr/>
        </p:nvSpPr>
        <p:spPr>
          <a:xfrm>
            <a:off x="4262196" y="372878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63C28B-F702-BE8E-1EB5-0FB651D27DFB}"/>
              </a:ext>
            </a:extLst>
          </p:cNvPr>
          <p:cNvSpPr/>
          <p:nvPr/>
        </p:nvSpPr>
        <p:spPr>
          <a:xfrm>
            <a:off x="4262196" y="387922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Google Shape;466;p7">
            <a:extLst>
              <a:ext uri="{FF2B5EF4-FFF2-40B4-BE49-F238E27FC236}">
                <a16:creationId xmlns:a16="http://schemas.microsoft.com/office/drawing/2014/main" id="{B79AC87F-D911-E6AE-423C-E9FD7FD67153}"/>
              </a:ext>
            </a:extLst>
          </p:cNvPr>
          <p:cNvSpPr/>
          <p:nvPr/>
        </p:nvSpPr>
        <p:spPr>
          <a:xfrm>
            <a:off x="6049711" y="1578497"/>
            <a:ext cx="1953742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Output (y)</a:t>
            </a:r>
            <a:endParaRPr sz="2000" dirty="0"/>
          </a:p>
        </p:txBody>
      </p:sp>
      <p:sp>
        <p:nvSpPr>
          <p:cNvPr id="15" name="Google Shape;466;p7">
            <a:extLst>
              <a:ext uri="{FF2B5EF4-FFF2-40B4-BE49-F238E27FC236}">
                <a16:creationId xmlns:a16="http://schemas.microsoft.com/office/drawing/2014/main" id="{3689F263-36E5-BE9F-BAE1-CA518F5536BA}"/>
              </a:ext>
            </a:extLst>
          </p:cNvPr>
          <p:cNvSpPr/>
          <p:nvPr/>
        </p:nvSpPr>
        <p:spPr>
          <a:xfrm>
            <a:off x="5750411" y="2066778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11</a:t>
            </a:r>
            <a:endParaRPr sz="2000" dirty="0"/>
          </a:p>
        </p:txBody>
      </p:sp>
      <p:sp>
        <p:nvSpPr>
          <p:cNvPr id="16" name="Google Shape;466;p7">
            <a:extLst>
              <a:ext uri="{FF2B5EF4-FFF2-40B4-BE49-F238E27FC236}">
                <a16:creationId xmlns:a16="http://schemas.microsoft.com/office/drawing/2014/main" id="{9FD047D7-4A5D-788A-2795-0AEFC96BE61F}"/>
              </a:ext>
            </a:extLst>
          </p:cNvPr>
          <p:cNvSpPr/>
          <p:nvPr/>
        </p:nvSpPr>
        <p:spPr>
          <a:xfrm>
            <a:off x="5750410" y="2547390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12</a:t>
            </a:r>
            <a:endParaRPr sz="2000" dirty="0"/>
          </a:p>
        </p:txBody>
      </p:sp>
      <p:sp>
        <p:nvSpPr>
          <p:cNvPr id="17" name="Google Shape;466;p7">
            <a:extLst>
              <a:ext uri="{FF2B5EF4-FFF2-40B4-BE49-F238E27FC236}">
                <a16:creationId xmlns:a16="http://schemas.microsoft.com/office/drawing/2014/main" id="{C3DB5A29-7FC3-E54E-C370-B366A88D8624}"/>
              </a:ext>
            </a:extLst>
          </p:cNvPr>
          <p:cNvSpPr/>
          <p:nvPr/>
        </p:nvSpPr>
        <p:spPr>
          <a:xfrm>
            <a:off x="5750409" y="3028002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Days 13</a:t>
            </a:r>
            <a:endParaRPr sz="2000" dirty="0"/>
          </a:p>
        </p:txBody>
      </p:sp>
      <p:sp>
        <p:nvSpPr>
          <p:cNvPr id="18" name="Google Shape;466;p7">
            <a:extLst>
              <a:ext uri="{FF2B5EF4-FFF2-40B4-BE49-F238E27FC236}">
                <a16:creationId xmlns:a16="http://schemas.microsoft.com/office/drawing/2014/main" id="{1F05CAC2-2345-C8E3-9D6D-52ED0EBFBBA6}"/>
              </a:ext>
            </a:extLst>
          </p:cNvPr>
          <p:cNvSpPr/>
          <p:nvPr/>
        </p:nvSpPr>
        <p:spPr>
          <a:xfrm>
            <a:off x="5750412" y="4080824"/>
            <a:ext cx="2381645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Day k+1</a:t>
            </a:r>
            <a:endParaRPr sz="2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B416D2F-ED21-78B9-C2A6-6E990790A76A}"/>
              </a:ext>
            </a:extLst>
          </p:cNvPr>
          <p:cNvSpPr/>
          <p:nvPr/>
        </p:nvSpPr>
        <p:spPr>
          <a:xfrm>
            <a:off x="6910187" y="356857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47D079-1D07-2ABB-9822-3C421509D59E}"/>
              </a:ext>
            </a:extLst>
          </p:cNvPr>
          <p:cNvSpPr/>
          <p:nvPr/>
        </p:nvSpPr>
        <p:spPr>
          <a:xfrm>
            <a:off x="6910187" y="371710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4AC5FE-878C-5679-F10C-A6772BCB208B}"/>
              </a:ext>
            </a:extLst>
          </p:cNvPr>
          <p:cNvSpPr/>
          <p:nvPr/>
        </p:nvSpPr>
        <p:spPr>
          <a:xfrm>
            <a:off x="6910187" y="386754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B348F4-5AAA-7C33-E2F2-E9117BEF8E19}"/>
              </a:ext>
            </a:extLst>
          </p:cNvPr>
          <p:cNvSpPr/>
          <p:nvPr/>
        </p:nvSpPr>
        <p:spPr>
          <a:xfrm>
            <a:off x="2938272" y="1986214"/>
            <a:ext cx="5341248" cy="15156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Google Shape;479;g163e4d1cdf8_0_6">
            <a:extLst>
              <a:ext uri="{FF2B5EF4-FFF2-40B4-BE49-F238E27FC236}">
                <a16:creationId xmlns:a16="http://schemas.microsoft.com/office/drawing/2014/main" id="{D8E648B9-AFCF-C970-4226-7904506AA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Parameter Tuning</a:t>
            </a:r>
            <a:endParaRPr sz="3800" b="1" dirty="0">
              <a:solidFill>
                <a:srgbClr val="E691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93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66;p7">
            <a:extLst>
              <a:ext uri="{FF2B5EF4-FFF2-40B4-BE49-F238E27FC236}">
                <a16:creationId xmlns:a16="http://schemas.microsoft.com/office/drawing/2014/main" id="{5C5F5DBD-89A4-40D2-0EEC-DDEE95A5805D}"/>
              </a:ext>
            </a:extLst>
          </p:cNvPr>
          <p:cNvSpPr/>
          <p:nvPr/>
        </p:nvSpPr>
        <p:spPr>
          <a:xfrm>
            <a:off x="329743" y="1330695"/>
            <a:ext cx="2381646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Epoch</a:t>
            </a:r>
            <a:endParaRPr sz="2000" dirty="0"/>
          </a:p>
        </p:txBody>
      </p:sp>
      <p:sp>
        <p:nvSpPr>
          <p:cNvPr id="2" name="Double Bracket 1">
            <a:extLst>
              <a:ext uri="{FF2B5EF4-FFF2-40B4-BE49-F238E27FC236}">
                <a16:creationId xmlns:a16="http://schemas.microsoft.com/office/drawing/2014/main" id="{262F528F-E50D-FB69-F298-06B3B9A2F904}"/>
              </a:ext>
            </a:extLst>
          </p:cNvPr>
          <p:cNvSpPr/>
          <p:nvPr/>
        </p:nvSpPr>
        <p:spPr>
          <a:xfrm>
            <a:off x="639198" y="2304280"/>
            <a:ext cx="3819530" cy="2309836"/>
          </a:xfrm>
          <a:prstGeom prst="bracketPair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Google Shape;466;p7">
            <a:extLst>
              <a:ext uri="{FF2B5EF4-FFF2-40B4-BE49-F238E27FC236}">
                <a16:creationId xmlns:a16="http://schemas.microsoft.com/office/drawing/2014/main" id="{A1767E12-C211-0CD2-92F9-869F17B0816E}"/>
              </a:ext>
            </a:extLst>
          </p:cNvPr>
          <p:cNvSpPr/>
          <p:nvPr/>
        </p:nvSpPr>
        <p:spPr>
          <a:xfrm>
            <a:off x="1002532" y="1991826"/>
            <a:ext cx="3078243" cy="396030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>
                <a:solidFill>
                  <a:schemeClr val="dk1"/>
                </a:solidFill>
              </a:rPr>
              <a:t>1 epoch</a:t>
            </a:r>
            <a:endParaRPr sz="2000" dirty="0"/>
          </a:p>
        </p:txBody>
      </p:sp>
      <p:sp>
        <p:nvSpPr>
          <p:cNvPr id="5" name="Google Shape;466;p7">
            <a:extLst>
              <a:ext uri="{FF2B5EF4-FFF2-40B4-BE49-F238E27FC236}">
                <a16:creationId xmlns:a16="http://schemas.microsoft.com/office/drawing/2014/main" id="{B908D9F3-BDEF-8CAF-E25D-A2C8D5E671BA}"/>
              </a:ext>
            </a:extLst>
          </p:cNvPr>
          <p:cNvSpPr/>
          <p:nvPr/>
        </p:nvSpPr>
        <p:spPr>
          <a:xfrm>
            <a:off x="793582" y="2483808"/>
            <a:ext cx="3393792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/>
              <a:t>3 samples of 10 steps</a:t>
            </a:r>
            <a:endParaRPr sz="2000" dirty="0"/>
          </a:p>
        </p:txBody>
      </p:sp>
      <p:sp>
        <p:nvSpPr>
          <p:cNvPr id="9" name="Google Shape;466;p7">
            <a:extLst>
              <a:ext uri="{FF2B5EF4-FFF2-40B4-BE49-F238E27FC236}">
                <a16:creationId xmlns:a16="http://schemas.microsoft.com/office/drawing/2014/main" id="{4A7C312E-B93F-3C53-9378-5908C19C54C5}"/>
              </a:ext>
            </a:extLst>
          </p:cNvPr>
          <p:cNvSpPr/>
          <p:nvPr/>
        </p:nvSpPr>
        <p:spPr>
          <a:xfrm>
            <a:off x="793582" y="2994277"/>
            <a:ext cx="3393792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/>
              <a:t>3 samples of 10 steps</a:t>
            </a:r>
            <a:endParaRPr sz="2000" dirty="0"/>
          </a:p>
        </p:txBody>
      </p:sp>
      <p:sp>
        <p:nvSpPr>
          <p:cNvPr id="10" name="Google Shape;466;p7">
            <a:extLst>
              <a:ext uri="{FF2B5EF4-FFF2-40B4-BE49-F238E27FC236}">
                <a16:creationId xmlns:a16="http://schemas.microsoft.com/office/drawing/2014/main" id="{3AD7E7F9-8DC0-729F-43A8-46435AC05E38}"/>
              </a:ext>
            </a:extLst>
          </p:cNvPr>
          <p:cNvSpPr/>
          <p:nvPr/>
        </p:nvSpPr>
        <p:spPr>
          <a:xfrm>
            <a:off x="793582" y="3497882"/>
            <a:ext cx="3393792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/>
              <a:t>3 samples of 10 steps</a:t>
            </a:r>
            <a:endParaRPr sz="2000" dirty="0"/>
          </a:p>
        </p:txBody>
      </p:sp>
      <p:sp>
        <p:nvSpPr>
          <p:cNvPr id="11" name="Google Shape;466;p7">
            <a:extLst>
              <a:ext uri="{FF2B5EF4-FFF2-40B4-BE49-F238E27FC236}">
                <a16:creationId xmlns:a16="http://schemas.microsoft.com/office/drawing/2014/main" id="{0F3F7AFE-C5A5-D413-1DA3-629C0DEE062F}"/>
              </a:ext>
            </a:extLst>
          </p:cNvPr>
          <p:cNvSpPr/>
          <p:nvPr/>
        </p:nvSpPr>
        <p:spPr>
          <a:xfrm>
            <a:off x="793582" y="4022628"/>
            <a:ext cx="3393792" cy="39603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 dirty="0"/>
              <a:t>3 samples of 10 steps</a:t>
            </a:r>
            <a:endParaRPr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EE2E6D-3CF0-EAAC-5620-FCF39916BDC6}"/>
              </a:ext>
            </a:extLst>
          </p:cNvPr>
          <p:cNvCxnSpPr/>
          <p:nvPr/>
        </p:nvCxnSpPr>
        <p:spPr>
          <a:xfrm>
            <a:off x="4716475" y="3177667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1E52E7-8903-C72A-5ED3-92128A000FE2}"/>
              </a:ext>
            </a:extLst>
          </p:cNvPr>
          <p:cNvCxnSpPr/>
          <p:nvPr/>
        </p:nvCxnSpPr>
        <p:spPr>
          <a:xfrm>
            <a:off x="4716475" y="3365786"/>
            <a:ext cx="7000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D3C54D-C95F-2290-1437-664C3D04AC0D}"/>
              </a:ext>
            </a:extLst>
          </p:cNvPr>
          <p:cNvSpPr txBox="1"/>
          <p:nvPr/>
        </p:nvSpPr>
        <p:spPr>
          <a:xfrm>
            <a:off x="5987271" y="2402731"/>
            <a:ext cx="2363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800" b="1" dirty="0"/>
              <a:t># of samples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F4D594-8E53-5EF9-C417-CC272ADD6B20}"/>
              </a:ext>
            </a:extLst>
          </p:cNvPr>
          <p:cNvCxnSpPr>
            <a:cxnSpLocks/>
          </p:cNvCxnSpPr>
          <p:nvPr/>
        </p:nvCxnSpPr>
        <p:spPr>
          <a:xfrm>
            <a:off x="5836586" y="2994277"/>
            <a:ext cx="263755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1FDF93-3056-F524-03FA-95097DF4CB3D}"/>
              </a:ext>
            </a:extLst>
          </p:cNvPr>
          <p:cNvSpPr txBox="1"/>
          <p:nvPr/>
        </p:nvSpPr>
        <p:spPr>
          <a:xfrm>
            <a:off x="6186844" y="3062604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800" b="1" dirty="0"/>
              <a:t>Batch size</a:t>
            </a:r>
          </a:p>
        </p:txBody>
      </p:sp>
      <p:sp>
        <p:nvSpPr>
          <p:cNvPr id="20" name="Google Shape;479;g163e4d1cdf8_0_6">
            <a:extLst>
              <a:ext uri="{FF2B5EF4-FFF2-40B4-BE49-F238E27FC236}">
                <a16:creationId xmlns:a16="http://schemas.microsoft.com/office/drawing/2014/main" id="{F210667A-58E0-A968-6AD3-2CC271A40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Parameter Tuning</a:t>
            </a:r>
            <a:endParaRPr sz="3800" b="1" dirty="0">
              <a:solidFill>
                <a:srgbClr val="E691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74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EBD038-EFE7-4B2B-0123-532923904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059" y="1432800"/>
            <a:ext cx="4743758" cy="906015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sp>
        <p:nvSpPr>
          <p:cNvPr id="7" name="Google Shape;479;g163e4d1cdf8_0_6">
            <a:extLst>
              <a:ext uri="{FF2B5EF4-FFF2-40B4-BE49-F238E27FC236}">
                <a16:creationId xmlns:a16="http://schemas.microsoft.com/office/drawing/2014/main" id="{FC52B46B-EDDB-77A5-21EA-D8E8AFDD2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Parameter Tuning</a:t>
            </a:r>
            <a:endParaRPr sz="3800" b="1" dirty="0">
              <a:solidFill>
                <a:srgbClr val="E69138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7722AA-7439-6B54-04B7-798E65838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734" y="3739755"/>
            <a:ext cx="4229466" cy="874361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F778F6-DCBB-C91E-64C3-6F71FCA6E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059" y="2571750"/>
            <a:ext cx="4743758" cy="852588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20182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8F29B4C-C6DC-56B4-028E-B5E6AE9B1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45" y="1725142"/>
            <a:ext cx="961386" cy="31630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BF11FD-161D-384C-5AB6-483258262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072" y="1725142"/>
            <a:ext cx="996668" cy="31630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DE3A60-26C4-CB31-AC43-5B1983A36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885" y="1725142"/>
            <a:ext cx="930506" cy="31530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3" name="Google Shape;466;p7">
            <a:extLst>
              <a:ext uri="{FF2B5EF4-FFF2-40B4-BE49-F238E27FC236}">
                <a16:creationId xmlns:a16="http://schemas.microsoft.com/office/drawing/2014/main" id="{BB6F370D-087E-F81F-9001-741A28D30CBE}"/>
              </a:ext>
            </a:extLst>
          </p:cNvPr>
          <p:cNvSpPr/>
          <p:nvPr/>
        </p:nvSpPr>
        <p:spPr>
          <a:xfrm>
            <a:off x="2318087" y="1338339"/>
            <a:ext cx="3238850" cy="3002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 b="1" dirty="0"/>
              <a:t>LSTM</a:t>
            </a:r>
            <a:endParaRPr sz="1600" dirty="0"/>
          </a:p>
        </p:txBody>
      </p:sp>
      <p:sp>
        <p:nvSpPr>
          <p:cNvPr id="26" name="Google Shape;466;p7">
            <a:extLst>
              <a:ext uri="{FF2B5EF4-FFF2-40B4-BE49-F238E27FC236}">
                <a16:creationId xmlns:a16="http://schemas.microsoft.com/office/drawing/2014/main" id="{01E9224D-5F7F-4449-4DB3-C933B6280B72}"/>
              </a:ext>
            </a:extLst>
          </p:cNvPr>
          <p:cNvSpPr/>
          <p:nvPr/>
        </p:nvSpPr>
        <p:spPr>
          <a:xfrm>
            <a:off x="2302046" y="681791"/>
            <a:ext cx="961386" cy="613328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Sales, weekday, month, events</a:t>
            </a:r>
            <a:endParaRPr sz="1050" dirty="0"/>
          </a:p>
        </p:txBody>
      </p:sp>
      <p:sp>
        <p:nvSpPr>
          <p:cNvPr id="27" name="Google Shape;466;p7">
            <a:extLst>
              <a:ext uri="{FF2B5EF4-FFF2-40B4-BE49-F238E27FC236}">
                <a16:creationId xmlns:a16="http://schemas.microsoft.com/office/drawing/2014/main" id="{7500B9BE-7873-7C4C-CA5F-E54937B4DC96}"/>
              </a:ext>
            </a:extLst>
          </p:cNvPr>
          <p:cNvSpPr/>
          <p:nvPr/>
        </p:nvSpPr>
        <p:spPr>
          <a:xfrm>
            <a:off x="3488713" y="655831"/>
            <a:ext cx="961386" cy="629262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Sales, weekday, month</a:t>
            </a:r>
            <a:endParaRPr sz="1050" dirty="0"/>
          </a:p>
        </p:txBody>
      </p:sp>
      <p:sp>
        <p:nvSpPr>
          <p:cNvPr id="28" name="Google Shape;466;p7">
            <a:extLst>
              <a:ext uri="{FF2B5EF4-FFF2-40B4-BE49-F238E27FC236}">
                <a16:creationId xmlns:a16="http://schemas.microsoft.com/office/drawing/2014/main" id="{DDEFC995-A96A-E33C-6AAA-30675C7C4AD9}"/>
              </a:ext>
            </a:extLst>
          </p:cNvPr>
          <p:cNvSpPr/>
          <p:nvPr/>
        </p:nvSpPr>
        <p:spPr>
          <a:xfrm>
            <a:off x="4642884" y="655831"/>
            <a:ext cx="961386" cy="629262"/>
          </a:xfrm>
          <a:prstGeom prst="rect">
            <a:avLst/>
          </a:prstGeom>
          <a:gradFill>
            <a:gsLst>
              <a:gs pos="0">
                <a:srgbClr val="FF9B83"/>
              </a:gs>
              <a:gs pos="35000">
                <a:srgbClr val="FFB7A8"/>
              </a:gs>
              <a:gs pos="100000">
                <a:srgbClr val="FFE1DA"/>
              </a:gs>
            </a:gsLst>
            <a:lin ang="16200000" scaled="0"/>
          </a:gradFill>
          <a:ln w="9525" cap="flat" cmpd="sng">
            <a:solidFill>
              <a:srgbClr val="E95A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50" b="1" dirty="0">
                <a:solidFill>
                  <a:schemeClr val="dk1"/>
                </a:solidFill>
              </a:rPr>
              <a:t>Sales, events</a:t>
            </a:r>
            <a:endParaRPr sz="10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3D852-66F6-96E6-8088-346F7854791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5601"/>
          <a:stretch/>
        </p:blipFill>
        <p:spPr>
          <a:xfrm>
            <a:off x="1026231" y="1670428"/>
            <a:ext cx="1026189" cy="32177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3144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79;g163e4d1cdf8_0_6">
            <a:extLst>
              <a:ext uri="{FF2B5EF4-FFF2-40B4-BE49-F238E27FC236}">
                <a16:creationId xmlns:a16="http://schemas.microsoft.com/office/drawing/2014/main" id="{C92F8032-72FD-94F1-B107-EF88FBBCA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LSTM vs. ARIMA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7BB061-9335-F12D-9C8D-E32B916AD864}"/>
              </a:ext>
            </a:extLst>
          </p:cNvPr>
          <p:cNvSpPr txBox="1"/>
          <p:nvPr/>
        </p:nvSpPr>
        <p:spPr>
          <a:xfrm>
            <a:off x="1812759" y="2377426"/>
            <a:ext cx="1648231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1800" b="1" dirty="0"/>
              <a:t>62% improvement over ARIMA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7C58E-95FB-5AFB-0391-10BC8A94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146" y="1406734"/>
            <a:ext cx="3341831" cy="360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6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9;g163e4d1cdf8_0_6">
            <a:extLst>
              <a:ext uri="{FF2B5EF4-FFF2-40B4-BE49-F238E27FC236}">
                <a16:creationId xmlns:a16="http://schemas.microsoft.com/office/drawing/2014/main" id="{E81276AB-011F-A7D8-117C-01F585320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825" y="529384"/>
            <a:ext cx="87813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800" b="1" dirty="0">
                <a:solidFill>
                  <a:srgbClr val="E69138"/>
                </a:solidFill>
              </a:rPr>
              <a:t>Recommendations</a:t>
            </a:r>
            <a:endParaRPr sz="3800" b="1" dirty="0">
              <a:solidFill>
                <a:srgbClr val="E69138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ABBD0D-B9FE-C563-7B47-22B10F0A594B}"/>
              </a:ext>
            </a:extLst>
          </p:cNvPr>
          <p:cNvSpPr/>
          <p:nvPr/>
        </p:nvSpPr>
        <p:spPr>
          <a:xfrm>
            <a:off x="325825" y="1403985"/>
            <a:ext cx="7696606" cy="5857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PH" sz="2000" dirty="0"/>
              <a:t>Results for bottom-up LSTM starting from level 12 upwards and utilize item prices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B6EC39-5E78-0D7A-E421-71452650C0A4}"/>
              </a:ext>
            </a:extLst>
          </p:cNvPr>
          <p:cNvSpPr/>
          <p:nvPr/>
        </p:nvSpPr>
        <p:spPr>
          <a:xfrm>
            <a:off x="325825" y="2142172"/>
            <a:ext cx="7696606" cy="7334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PH" sz="2000" dirty="0"/>
              <a:t>Compare different activation functions, optimizers, and number of layers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985C28-65CD-F84E-DD3D-8C27A8E82705}"/>
              </a:ext>
            </a:extLst>
          </p:cNvPr>
          <p:cNvSpPr/>
          <p:nvPr/>
        </p:nvSpPr>
        <p:spPr>
          <a:xfrm>
            <a:off x="325825" y="3027996"/>
            <a:ext cx="7696606" cy="7334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PH" sz="2000" dirty="0"/>
              <a:t>Accuracy of model on different categories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2483DB-4FF7-0FE9-EDD7-BAE355CE96F0}"/>
              </a:ext>
            </a:extLst>
          </p:cNvPr>
          <p:cNvSpPr/>
          <p:nvPr/>
        </p:nvSpPr>
        <p:spPr>
          <a:xfrm>
            <a:off x="325825" y="3880691"/>
            <a:ext cx="7696606" cy="7334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PH" sz="2000" dirty="0"/>
              <a:t>Results for all categories compared to winning methods</a:t>
            </a:r>
          </a:p>
        </p:txBody>
      </p:sp>
    </p:spTree>
    <p:extLst>
      <p:ext uri="{BB962C8B-B14F-4D97-AF65-F5344CB8AC3E}">
        <p14:creationId xmlns:p14="http://schemas.microsoft.com/office/powerpoint/2010/main" val="133663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"/>
          <p:cNvSpPr txBox="1">
            <a:spLocks noGrp="1"/>
          </p:cNvSpPr>
          <p:nvPr>
            <p:ph type="title"/>
          </p:nvPr>
        </p:nvSpPr>
        <p:spPr>
          <a:xfrm>
            <a:off x="477100" y="620727"/>
            <a:ext cx="8053800" cy="410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AU" sz="5400" b="1">
                <a:solidFill>
                  <a:srgbClr val="F1C232"/>
                </a:solidFill>
              </a:rPr>
              <a:t>QUESTIONS?</a:t>
            </a:r>
            <a:endParaRPr sz="5400" b="1">
              <a:solidFill>
                <a:srgbClr val="F1C23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247A"/>
      </a:accent1>
      <a:accent2>
        <a:srgbClr val="E62645"/>
      </a:accent2>
      <a:accent3>
        <a:srgbClr val="00A2C7"/>
      </a:accent3>
      <a:accent4>
        <a:srgbClr val="EB602B"/>
      </a:accent4>
      <a:accent5>
        <a:srgbClr val="4085C6"/>
      </a:accent5>
      <a:accent6>
        <a:srgbClr val="2EA836"/>
      </a:accent6>
      <a:hlink>
        <a:srgbClr val="51247A"/>
      </a:hlink>
      <a:folHlink>
        <a:srgbClr val="5124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779</Words>
  <Application>Microsoft Office PowerPoint</Application>
  <PresentationFormat>On-screen Show (16:9)</PresentationFormat>
  <Paragraphs>288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Noto Sans Symbols</vt:lpstr>
      <vt:lpstr>Arial</vt:lpstr>
      <vt:lpstr>Roboto</vt:lpstr>
      <vt:lpstr>University of Queensland</vt:lpstr>
      <vt:lpstr>DATA 7901</vt:lpstr>
      <vt:lpstr>Contents</vt:lpstr>
      <vt:lpstr>M5 Forecasting Competition</vt:lpstr>
      <vt:lpstr>M5 Forecasting Competition</vt:lpstr>
      <vt:lpstr>M5 Forecasting Competition</vt:lpstr>
      <vt:lpstr>M5 Forecasting Competition</vt:lpstr>
      <vt:lpstr>Model Evaluation</vt:lpstr>
      <vt:lpstr>Probabilistic Forecasting Benchmark:</vt:lpstr>
      <vt:lpstr>Long Short Term Memory Network (LSTM)</vt:lpstr>
      <vt:lpstr>Long Short Term Memory Network (LSTM)</vt:lpstr>
      <vt:lpstr>LSTM Applied to Walmart Sales</vt:lpstr>
      <vt:lpstr>Multivariate LSTM</vt:lpstr>
      <vt:lpstr>Multivariate LSTM</vt:lpstr>
      <vt:lpstr>Multivariate LSTM</vt:lpstr>
      <vt:lpstr>LSTM in Python</vt:lpstr>
      <vt:lpstr>LSTM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LSTM in Python</vt:lpstr>
      <vt:lpstr>Parameter Tuning</vt:lpstr>
      <vt:lpstr>PowerPoint Presentation</vt:lpstr>
      <vt:lpstr>Parameter Tuning</vt:lpstr>
      <vt:lpstr>Parameter Tuning</vt:lpstr>
      <vt:lpstr>Parameter Tuning</vt:lpstr>
      <vt:lpstr>PowerPoint Presentation</vt:lpstr>
      <vt:lpstr>LSTM vs. ARIMA</vt:lpstr>
      <vt:lpstr>Recommendations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7901</dc:title>
  <dc:creator>Beatrice</dc:creator>
  <cp:lastModifiedBy>Beatrice Que</cp:lastModifiedBy>
  <cp:revision>9</cp:revision>
  <dcterms:modified xsi:type="dcterms:W3CDTF">2023-04-18T10:29:51Z</dcterms:modified>
</cp:coreProperties>
</file>